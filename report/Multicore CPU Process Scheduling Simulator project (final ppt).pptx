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2" r:id="rId3"/>
    <p:sldId id="289" r:id="rId4"/>
    <p:sldId id="280" r:id="rId5"/>
    <p:sldId id="303" r:id="rId6"/>
    <p:sldId id="309" r:id="rId7"/>
    <p:sldId id="310" r:id="rId8"/>
    <p:sldId id="299" r:id="rId9"/>
    <p:sldId id="300" r:id="rId10"/>
    <p:sldId id="311" r:id="rId11"/>
    <p:sldId id="302" r:id="rId12"/>
    <p:sldId id="313" r:id="rId13"/>
    <p:sldId id="296" r:id="rId14"/>
    <p:sldId id="291" r:id="rId15"/>
    <p:sldId id="281" r:id="rId16"/>
    <p:sldId id="290" r:id="rId17"/>
    <p:sldId id="285" r:id="rId18"/>
    <p:sldId id="286" r:id="rId19"/>
    <p:sldId id="292" r:id="rId20"/>
    <p:sldId id="283" r:id="rId21"/>
    <p:sldId id="284" r:id="rId22"/>
    <p:sldId id="287" r:id="rId23"/>
    <p:sldId id="293" r:id="rId24"/>
    <p:sldId id="297" r:id="rId25"/>
    <p:sldId id="294" r:id="rId26"/>
    <p:sldId id="288" r:id="rId27"/>
    <p:sldId id="312" r:id="rId28"/>
  </p:sldIdLst>
  <p:sldSz cx="9144000" cy="6858000" type="screen4x3"/>
  <p:notesSz cx="6858000" cy="9144000"/>
  <p:defaultTextStyle>
    <a:defPPr>
      <a:defRPr lang="en-IN"/>
    </a:defPPr>
    <a:lvl1pPr algn="ctr" rtl="0" fontAlgn="base">
      <a:spcBef>
        <a:spcPct val="0"/>
      </a:spcBef>
      <a:spcAft>
        <a:spcPct val="0"/>
      </a:spcAft>
      <a:defRPr sz="2400"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sz="2400"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sz="2400"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sz="2400"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sz="2400" kern="1200">
        <a:solidFill>
          <a:schemeClr val="tx1"/>
        </a:solidFill>
        <a:latin typeface="Arial" panose="020B0604020202020204" pitchFamily="34" charset="0"/>
        <a:ea typeface="+mn-ea"/>
        <a:cs typeface="+mn-cs"/>
      </a:defRPr>
    </a:lvl5pPr>
    <a:lvl6pPr marL="2286000" algn="l" defTabSz="914400" rtl="0" eaLnBrk="1" latinLnBrk="0" hangingPunct="1">
      <a:defRPr sz="2400" kern="1200">
        <a:solidFill>
          <a:schemeClr val="tx1"/>
        </a:solidFill>
        <a:latin typeface="Arial" panose="020B0604020202020204" pitchFamily="34" charset="0"/>
        <a:ea typeface="+mn-ea"/>
        <a:cs typeface="+mn-cs"/>
      </a:defRPr>
    </a:lvl6pPr>
    <a:lvl7pPr marL="2743200" algn="l" defTabSz="914400" rtl="0" eaLnBrk="1" latinLnBrk="0" hangingPunct="1">
      <a:defRPr sz="2400" kern="1200">
        <a:solidFill>
          <a:schemeClr val="tx1"/>
        </a:solidFill>
        <a:latin typeface="Arial" panose="020B0604020202020204" pitchFamily="34" charset="0"/>
        <a:ea typeface="+mn-ea"/>
        <a:cs typeface="+mn-cs"/>
      </a:defRPr>
    </a:lvl7pPr>
    <a:lvl8pPr marL="3200400" algn="l" defTabSz="914400" rtl="0" eaLnBrk="1" latinLnBrk="0" hangingPunct="1">
      <a:defRPr sz="2400" kern="1200">
        <a:solidFill>
          <a:schemeClr val="tx1"/>
        </a:solidFill>
        <a:latin typeface="Arial" panose="020B0604020202020204" pitchFamily="34" charset="0"/>
        <a:ea typeface="+mn-ea"/>
        <a:cs typeface="+mn-cs"/>
      </a:defRPr>
    </a:lvl8pPr>
    <a:lvl9pPr marL="3657600" algn="l" defTabSz="914400" rtl="0" eaLnBrk="1" latinLnBrk="0" hangingPunct="1">
      <a:defRPr sz="24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4A8"/>
    <a:srgbClr val="4D4D4D"/>
    <a:srgbClr val="B92D14"/>
    <a:srgbClr val="35759D"/>
    <a:srgbClr val="35B19D"/>
    <a:srgbClr val="E8E8E8"/>
    <a:srgbClr val="3F3F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265" autoAdjust="0"/>
    <p:restoredTop sz="95596" autoAdjust="0"/>
  </p:normalViewPr>
  <p:slideViewPr>
    <p:cSldViewPr>
      <p:cViewPr varScale="1">
        <p:scale>
          <a:sx n="86" d="100"/>
          <a:sy n="86" d="100"/>
        </p:scale>
        <p:origin x="48" y="62"/>
      </p:cViewPr>
      <p:guideLst>
        <p:guide orient="horz" pos="2160"/>
        <p:guide pos="2880"/>
      </p:guideLst>
    </p:cSldViewPr>
  </p:slideViewPr>
  <p:notesTextViewPr>
    <p:cViewPr>
      <p:scale>
        <a:sx n="100" d="100"/>
        <a:sy n="100" d="100"/>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E12EFB23-5D53-39D5-0CF8-CD64003D5AF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IN" altLang="en-US" dirty="0"/>
          </a:p>
        </p:txBody>
      </p:sp>
      <p:sp>
        <p:nvSpPr>
          <p:cNvPr id="81923" name="Rectangle 3">
            <a:extLst>
              <a:ext uri="{FF2B5EF4-FFF2-40B4-BE49-F238E27FC236}">
                <a16:creationId xmlns:a16="http://schemas.microsoft.com/office/drawing/2014/main" id="{E58983C3-0705-00A4-840D-F891EBD3F176}"/>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IN" altLang="en-US" dirty="0"/>
          </a:p>
        </p:txBody>
      </p:sp>
      <p:sp>
        <p:nvSpPr>
          <p:cNvPr id="81924" name="Rectangle 4">
            <a:extLst>
              <a:ext uri="{FF2B5EF4-FFF2-40B4-BE49-F238E27FC236}">
                <a16:creationId xmlns:a16="http://schemas.microsoft.com/office/drawing/2014/main" id="{D99DD2CB-5372-B93C-498F-131C95E7613E}"/>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25" name="Rectangle 5">
            <a:extLst>
              <a:ext uri="{FF2B5EF4-FFF2-40B4-BE49-F238E27FC236}">
                <a16:creationId xmlns:a16="http://schemas.microsoft.com/office/drawing/2014/main" id="{457DF52D-C24E-AAF2-5F06-0DC72A901E49}"/>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IN" altLang="en-US"/>
              <a:t>Click to edit Master text styles</a:t>
            </a:r>
          </a:p>
          <a:p>
            <a:pPr lvl="1"/>
            <a:r>
              <a:rPr lang="en-IN" altLang="en-US"/>
              <a:t>Second level</a:t>
            </a:r>
          </a:p>
          <a:p>
            <a:pPr lvl="2"/>
            <a:r>
              <a:rPr lang="en-IN" altLang="en-US"/>
              <a:t>Third level</a:t>
            </a:r>
          </a:p>
          <a:p>
            <a:pPr lvl="3"/>
            <a:r>
              <a:rPr lang="en-IN" altLang="en-US"/>
              <a:t>Fourth level</a:t>
            </a:r>
          </a:p>
          <a:p>
            <a:pPr lvl="4"/>
            <a:r>
              <a:rPr lang="en-IN" altLang="en-US"/>
              <a:t>Fifth level</a:t>
            </a:r>
          </a:p>
        </p:txBody>
      </p:sp>
      <p:sp>
        <p:nvSpPr>
          <p:cNvPr id="81926" name="Rectangle 6">
            <a:extLst>
              <a:ext uri="{FF2B5EF4-FFF2-40B4-BE49-F238E27FC236}">
                <a16:creationId xmlns:a16="http://schemas.microsoft.com/office/drawing/2014/main" id="{83D51061-BEDB-8320-B733-761314266A76}"/>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IN" altLang="en-US" dirty="0"/>
          </a:p>
        </p:txBody>
      </p:sp>
      <p:sp>
        <p:nvSpPr>
          <p:cNvPr id="81927" name="Rectangle 7">
            <a:extLst>
              <a:ext uri="{FF2B5EF4-FFF2-40B4-BE49-F238E27FC236}">
                <a16:creationId xmlns:a16="http://schemas.microsoft.com/office/drawing/2014/main" id="{BCDEF14B-62EF-BF20-8C3C-359213E86E7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5DDC2C9-25FA-4D48-92EB-1BAAFDA7E496}" type="slidenum">
              <a:rPr lang="en-IN" altLang="en-US"/>
              <a:pPr/>
              <a:t>‹#›</a:t>
            </a:fld>
            <a:endParaRPr lang="en-IN" altLang="en-US" dirty="0"/>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6613EA1-00CC-1CF0-2879-B45E6CC86FEE}"/>
              </a:ext>
            </a:extLst>
          </p:cNvPr>
          <p:cNvSpPr>
            <a:spLocks noGrp="1" noChangeArrowheads="1"/>
          </p:cNvSpPr>
          <p:nvPr>
            <p:ph type="sldNum" sz="quarter" idx="5"/>
          </p:nvPr>
        </p:nvSpPr>
        <p:spPr>
          <a:ln/>
        </p:spPr>
        <p:txBody>
          <a:bodyPr/>
          <a:lstStyle/>
          <a:p>
            <a:fld id="{37579240-9D87-496B-AE8B-147B2E6F4534}" type="slidenum">
              <a:rPr lang="en-IN" altLang="en-US"/>
              <a:pPr/>
              <a:t>1</a:t>
            </a:fld>
            <a:endParaRPr lang="en-IN" altLang="en-US" dirty="0"/>
          </a:p>
        </p:txBody>
      </p:sp>
      <p:sp>
        <p:nvSpPr>
          <p:cNvPr id="107522" name="Rectangle 2">
            <a:extLst>
              <a:ext uri="{FF2B5EF4-FFF2-40B4-BE49-F238E27FC236}">
                <a16:creationId xmlns:a16="http://schemas.microsoft.com/office/drawing/2014/main" id="{3322A8F8-0A73-A7C2-FBFA-76E9EF8841C0}"/>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949F0BAA-72AF-F002-8179-AACDED093B7A}"/>
              </a:ext>
            </a:extLst>
          </p:cNvPr>
          <p:cNvSpPr>
            <a:spLocks noGrp="1" noChangeArrowheads="1"/>
          </p:cNvSpPr>
          <p:nvPr>
            <p:ph type="body" idx="1"/>
          </p:nvPr>
        </p:nvSpPr>
        <p:spPr/>
        <p:txBody>
          <a:bodyPr/>
          <a:lstStyle/>
          <a:p>
            <a:endParaRPr lang="ru-RU"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B609765-6EEA-E41A-332B-D5CB4BD3B751}"/>
              </a:ext>
            </a:extLst>
          </p:cNvPr>
          <p:cNvSpPr>
            <a:spLocks noGrp="1" noChangeArrowheads="1"/>
          </p:cNvSpPr>
          <p:nvPr>
            <p:ph type="ctrTitle"/>
          </p:nvPr>
        </p:nvSpPr>
        <p:spPr>
          <a:xfrm>
            <a:off x="990600" y="5334000"/>
            <a:ext cx="7772400" cy="704850"/>
          </a:xfrm>
          <a:extLst>
            <a:ext uri="{AF507438-7753-43E0-B8FC-AC1667EBCBE1}">
              <a14:hiddenEffects xmlns:a14="http://schemas.microsoft.com/office/drawing/2010/main">
                <a:effectLst>
                  <a:outerShdw dist="17961" dir="2700000" algn="ctr" rotWithShape="0">
                    <a:schemeClr val="tx1"/>
                  </a:outerShdw>
                </a:effectLst>
              </a14:hiddenEffects>
            </a:ext>
          </a:extLst>
        </p:spPr>
        <p:txBody>
          <a:bodyPr/>
          <a:lstStyle>
            <a:lvl1pPr algn="r">
              <a:defRPr sz="3600">
                <a:solidFill>
                  <a:schemeClr val="bg1"/>
                </a:solidFill>
              </a:defRPr>
            </a:lvl1pPr>
          </a:lstStyle>
          <a:p>
            <a:pPr lvl="0"/>
            <a:r>
              <a:rPr lang="en-US" altLang="en-US" noProof="0"/>
              <a:t>Click to edit Master title style</a:t>
            </a:r>
            <a:endParaRPr lang="en-IN" altLang="en-US" noProof="0"/>
          </a:p>
        </p:txBody>
      </p:sp>
      <p:sp>
        <p:nvSpPr>
          <p:cNvPr id="3075" name="Rectangle 3">
            <a:extLst>
              <a:ext uri="{FF2B5EF4-FFF2-40B4-BE49-F238E27FC236}">
                <a16:creationId xmlns:a16="http://schemas.microsoft.com/office/drawing/2014/main" id="{040F30DE-79E8-742A-5F6F-86920646DA8A}"/>
              </a:ext>
            </a:extLst>
          </p:cNvPr>
          <p:cNvSpPr>
            <a:spLocks noGrp="1" noChangeArrowheads="1"/>
          </p:cNvSpPr>
          <p:nvPr>
            <p:ph type="subTitle" idx="1"/>
          </p:nvPr>
        </p:nvSpPr>
        <p:spPr>
          <a:xfrm>
            <a:off x="990600" y="5867400"/>
            <a:ext cx="7772400" cy="533400"/>
          </a:xfrm>
          <a:extLst>
            <a:ext uri="{AF507438-7753-43E0-B8FC-AC1667EBCBE1}">
              <a14:hiddenEffects xmlns:a14="http://schemas.microsoft.com/office/drawing/2010/main">
                <a:effectLst>
                  <a:outerShdw dist="17961" dir="2700000" algn="ctr" rotWithShape="0">
                    <a:schemeClr val="tx1"/>
                  </a:outerShdw>
                </a:effectLst>
              </a14:hiddenEffects>
            </a:ext>
          </a:extLst>
        </p:spPr>
        <p:txBody>
          <a:bodyPr/>
          <a:lstStyle>
            <a:lvl1pPr marL="0" indent="0" algn="r">
              <a:buFontTx/>
              <a:buNone/>
              <a:defRPr sz="2400">
                <a:solidFill>
                  <a:schemeClr val="bg1"/>
                </a:solidFill>
              </a:defRPr>
            </a:lvl1pPr>
          </a:lstStyle>
          <a:p>
            <a:pPr lvl="0"/>
            <a:r>
              <a:rPr lang="en-US" altLang="en-US" noProof="0"/>
              <a:t>Click to edit Master subtitle style</a:t>
            </a:r>
            <a:endParaRPr lang="en-IN" altLang="en-US" noProof="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6F93E-CE9A-FA70-8BAE-3BEF270B91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6C39CB-CD29-28B7-4EEA-50AC1F010B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419819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EEB9A-5956-DA02-D9E2-A20DF1282ED7}"/>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66E9577-67DC-4062-8987-9A3B5A49636F}"/>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3936934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D9589-7D8D-458D-ED9D-A72F00FFCA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8681246-1F87-E715-EF5E-A1D8F7CAAD04}"/>
              </a:ext>
            </a:extLst>
          </p:cNvPr>
          <p:cNvSpPr>
            <a:spLocks noGrp="1"/>
          </p:cNvSpPr>
          <p:nvPr>
            <p:ph sz="half" idx="1"/>
          </p:nvPr>
        </p:nvSpPr>
        <p:spPr>
          <a:xfrm>
            <a:off x="914400" y="2438400"/>
            <a:ext cx="35814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678DAC8-9BCC-AEF3-4246-1572DC47C3A5}"/>
              </a:ext>
            </a:extLst>
          </p:cNvPr>
          <p:cNvSpPr>
            <a:spLocks noGrp="1"/>
          </p:cNvSpPr>
          <p:nvPr>
            <p:ph sz="half" idx="2"/>
          </p:nvPr>
        </p:nvSpPr>
        <p:spPr>
          <a:xfrm>
            <a:off x="4648200" y="2438400"/>
            <a:ext cx="35814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383060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8E45C-1951-03FC-1354-0C3709F882B2}"/>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8D30C0-8007-AD9A-05EA-6BB76A2DFDAD}"/>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209F8C-AB95-6D34-F6CE-1A771955C7A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6063F14-39F2-4439-FB7B-FBDD396A87BB}"/>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F4C15F-5053-7D88-65E3-C208DC5E7A8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661353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7CA1-1E7C-DAA2-3AC3-CF2A5A8089C5}"/>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965842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1805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126DD-B450-E300-840A-F7E5455BBEEA}"/>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3EA8D9F-3AF8-417A-DBD3-45C9DAA316A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7F059F0-5BA9-B30D-355A-FED84336244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615462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E323C-C973-C9F9-9858-F74442F8549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F0A1156-2EB6-5E8C-52B9-D39A8CB5FA4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a:extLst>
              <a:ext uri="{FF2B5EF4-FFF2-40B4-BE49-F238E27FC236}">
                <a16:creationId xmlns:a16="http://schemas.microsoft.com/office/drawing/2014/main" id="{34E18A4A-580A-E4C6-8A37-0688B9EBA4C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984058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7E2683-EDCC-0DFE-A603-EBE74DCE65B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517498-527C-5B25-9DF0-AEA446FDD2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51078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341BB0-4850-3BEE-5ADD-E6524F0C0306}"/>
              </a:ext>
            </a:extLst>
          </p:cNvPr>
          <p:cNvSpPr>
            <a:spLocks noGrp="1"/>
          </p:cNvSpPr>
          <p:nvPr>
            <p:ph type="title" orient="vert"/>
          </p:nvPr>
        </p:nvSpPr>
        <p:spPr>
          <a:xfrm>
            <a:off x="6400800" y="1417638"/>
            <a:ext cx="1828800" cy="5211762"/>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909051-919D-64B4-3010-106BA5F25921}"/>
              </a:ext>
            </a:extLst>
          </p:cNvPr>
          <p:cNvSpPr>
            <a:spLocks noGrp="1"/>
          </p:cNvSpPr>
          <p:nvPr>
            <p:ph type="body" orient="vert" idx="1"/>
          </p:nvPr>
        </p:nvSpPr>
        <p:spPr>
          <a:xfrm>
            <a:off x="914400" y="1417638"/>
            <a:ext cx="5334000" cy="52117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42984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25D8F44-0B18-D365-5CE3-371449CC6780}"/>
              </a:ext>
            </a:extLst>
          </p:cNvPr>
          <p:cNvSpPr>
            <a:spLocks noGrp="1" noChangeArrowheads="1"/>
          </p:cNvSpPr>
          <p:nvPr>
            <p:ph type="title"/>
          </p:nvPr>
        </p:nvSpPr>
        <p:spPr bwMode="auto">
          <a:xfrm>
            <a:off x="914400" y="1417638"/>
            <a:ext cx="7315200" cy="715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Rectangle 3">
            <a:extLst>
              <a:ext uri="{FF2B5EF4-FFF2-40B4-BE49-F238E27FC236}">
                <a16:creationId xmlns:a16="http://schemas.microsoft.com/office/drawing/2014/main" id="{3EF1D67F-FA88-D965-64B8-9B035F3351CD}"/>
              </a:ext>
            </a:extLst>
          </p:cNvPr>
          <p:cNvSpPr>
            <a:spLocks noGrp="1" noChangeArrowheads="1"/>
          </p:cNvSpPr>
          <p:nvPr>
            <p:ph type="body" idx="1"/>
          </p:nvPr>
        </p:nvSpPr>
        <p:spPr bwMode="auto">
          <a:xfrm>
            <a:off x="914400" y="2438400"/>
            <a:ext cx="7315200" cy="419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4400" kern="1200">
          <a:solidFill>
            <a:schemeClr val="tx1"/>
          </a:solidFill>
          <a:latin typeface="+mj-lt"/>
          <a:ea typeface="+mj-ea"/>
          <a:cs typeface="+mj-cs"/>
        </a:defRPr>
      </a:lvl1pPr>
      <a:lvl2pPr algn="l" rtl="0" eaLnBrk="1" fontAlgn="base" hangingPunct="1">
        <a:spcBef>
          <a:spcPct val="0"/>
        </a:spcBef>
        <a:spcAft>
          <a:spcPct val="0"/>
        </a:spcAft>
        <a:defRPr sz="4400">
          <a:solidFill>
            <a:schemeClr val="tx1"/>
          </a:solidFill>
          <a:latin typeface="Microsoft Sans Serif" panose="020B0604020202020204" pitchFamily="34" charset="0"/>
        </a:defRPr>
      </a:lvl2pPr>
      <a:lvl3pPr algn="l" rtl="0" eaLnBrk="1" fontAlgn="base" hangingPunct="1">
        <a:spcBef>
          <a:spcPct val="0"/>
        </a:spcBef>
        <a:spcAft>
          <a:spcPct val="0"/>
        </a:spcAft>
        <a:defRPr sz="4400">
          <a:solidFill>
            <a:schemeClr val="tx1"/>
          </a:solidFill>
          <a:latin typeface="Microsoft Sans Serif" panose="020B0604020202020204" pitchFamily="34" charset="0"/>
        </a:defRPr>
      </a:lvl3pPr>
      <a:lvl4pPr algn="l" rtl="0" eaLnBrk="1" fontAlgn="base" hangingPunct="1">
        <a:spcBef>
          <a:spcPct val="0"/>
        </a:spcBef>
        <a:spcAft>
          <a:spcPct val="0"/>
        </a:spcAft>
        <a:defRPr sz="4400">
          <a:solidFill>
            <a:schemeClr val="tx1"/>
          </a:solidFill>
          <a:latin typeface="Microsoft Sans Serif" panose="020B0604020202020204" pitchFamily="34" charset="0"/>
        </a:defRPr>
      </a:lvl4pPr>
      <a:lvl5pPr algn="l" rtl="0" eaLnBrk="1" fontAlgn="base" hangingPunct="1">
        <a:spcBef>
          <a:spcPct val="0"/>
        </a:spcBef>
        <a:spcAft>
          <a:spcPct val="0"/>
        </a:spcAft>
        <a:defRPr sz="4400">
          <a:solidFill>
            <a:schemeClr val="tx1"/>
          </a:solidFill>
          <a:latin typeface="Microsoft Sans Serif" panose="020B0604020202020204" pitchFamily="34" charset="0"/>
        </a:defRPr>
      </a:lvl5pPr>
      <a:lvl6pPr marL="457200" algn="l" rtl="0" eaLnBrk="1" fontAlgn="base" hangingPunct="1">
        <a:spcBef>
          <a:spcPct val="0"/>
        </a:spcBef>
        <a:spcAft>
          <a:spcPct val="0"/>
        </a:spcAft>
        <a:defRPr sz="4400">
          <a:solidFill>
            <a:schemeClr val="tx1"/>
          </a:solidFill>
          <a:latin typeface="Microsoft Sans Serif" panose="020B0604020202020204" pitchFamily="34" charset="0"/>
        </a:defRPr>
      </a:lvl6pPr>
      <a:lvl7pPr marL="914400" algn="l" rtl="0" eaLnBrk="1" fontAlgn="base" hangingPunct="1">
        <a:spcBef>
          <a:spcPct val="0"/>
        </a:spcBef>
        <a:spcAft>
          <a:spcPct val="0"/>
        </a:spcAft>
        <a:defRPr sz="4400">
          <a:solidFill>
            <a:schemeClr val="tx1"/>
          </a:solidFill>
          <a:latin typeface="Microsoft Sans Serif" panose="020B0604020202020204" pitchFamily="34" charset="0"/>
        </a:defRPr>
      </a:lvl7pPr>
      <a:lvl8pPr marL="1371600" algn="l" rtl="0" eaLnBrk="1" fontAlgn="base" hangingPunct="1">
        <a:spcBef>
          <a:spcPct val="0"/>
        </a:spcBef>
        <a:spcAft>
          <a:spcPct val="0"/>
        </a:spcAft>
        <a:defRPr sz="4400">
          <a:solidFill>
            <a:schemeClr val="tx1"/>
          </a:solidFill>
          <a:latin typeface="Microsoft Sans Serif" panose="020B0604020202020204" pitchFamily="34" charset="0"/>
        </a:defRPr>
      </a:lvl8pPr>
      <a:lvl9pPr marL="1828800" algn="l" rtl="0" eaLnBrk="1" fontAlgn="base" hangingPunct="1">
        <a:spcBef>
          <a:spcPct val="0"/>
        </a:spcBef>
        <a:spcAft>
          <a:spcPct val="0"/>
        </a:spcAft>
        <a:defRPr sz="4400">
          <a:solidFill>
            <a:schemeClr val="tx1"/>
          </a:solidFill>
          <a:latin typeface="Microsoft Sans Serif" panose="020B0604020202020204" pitchFamily="34" charset="0"/>
        </a:defRPr>
      </a:lvl9pPr>
    </p:titleStyle>
    <p:bodyStyle>
      <a:lvl1pPr marL="342900" indent="-342900" algn="l" rtl="0" eaLnBrk="1" fontAlgn="base" hangingPunct="1">
        <a:spcBef>
          <a:spcPct val="20000"/>
        </a:spcBef>
        <a:spcAft>
          <a:spcPct val="0"/>
        </a:spcAft>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53" name="Rectangle 5">
            <a:extLst>
              <a:ext uri="{FF2B5EF4-FFF2-40B4-BE49-F238E27FC236}">
                <a16:creationId xmlns:a16="http://schemas.microsoft.com/office/drawing/2014/main" id="{D62D98FF-D52D-0A96-609E-B8E3173CE0F4}"/>
              </a:ext>
            </a:extLst>
          </p:cNvPr>
          <p:cNvSpPr>
            <a:spLocks noGrp="1" noChangeArrowheads="1"/>
          </p:cNvSpPr>
          <p:nvPr>
            <p:ph type="ctrTitle"/>
          </p:nvPr>
        </p:nvSpPr>
        <p:spPr>
          <a:xfrm>
            <a:off x="467544" y="2060848"/>
            <a:ext cx="7488832" cy="1656184"/>
          </a:xfrm>
          <a:solidFill>
            <a:schemeClr val="accent2">
              <a:lumMod val="20000"/>
              <a:lumOff val="80000"/>
            </a:schemeClr>
          </a:solidFill>
        </p:spPr>
        <p:txBody>
          <a:bodyPr/>
          <a:lstStyle/>
          <a:p>
            <a:pPr algn="ctr"/>
            <a:r>
              <a:rPr lang="en-US" sz="4000" b="1" dirty="0">
                <a:solidFill>
                  <a:srgbClr val="C00000"/>
                </a:solidFill>
                <a:latin typeface="Arial" panose="020B0604020202020204" pitchFamily="34" charset="0"/>
                <a:cs typeface="Arial" panose="020B0604020202020204" pitchFamily="34" charset="0"/>
              </a:rPr>
              <a:t>Multicore CPU Process Scheduling Simulator</a:t>
            </a:r>
            <a:endParaRPr lang="ru-RU" altLang="en-US" sz="4000" b="1" dirty="0">
              <a:solidFill>
                <a:srgbClr val="C00000"/>
              </a:solidFill>
              <a:latin typeface="Arial" panose="020B0604020202020204" pitchFamily="34" charset="0"/>
              <a:cs typeface="Arial" panose="020B0604020202020204" pitchFamily="34" charset="0"/>
            </a:endParaRPr>
          </a:p>
        </p:txBody>
      </p:sp>
      <p:sp>
        <p:nvSpPr>
          <p:cNvPr id="3" name="TextBox 2">
            <a:extLst>
              <a:ext uri="{FF2B5EF4-FFF2-40B4-BE49-F238E27FC236}">
                <a16:creationId xmlns:a16="http://schemas.microsoft.com/office/drawing/2014/main" id="{28E5E347-0BE9-2084-5792-87F461955BBE}"/>
              </a:ext>
            </a:extLst>
          </p:cNvPr>
          <p:cNvSpPr txBox="1"/>
          <p:nvPr/>
        </p:nvSpPr>
        <p:spPr>
          <a:xfrm>
            <a:off x="5004048" y="5229200"/>
            <a:ext cx="3960440" cy="1323439"/>
          </a:xfrm>
          <a:prstGeom prst="rect">
            <a:avLst/>
          </a:prstGeom>
          <a:noFill/>
        </p:spPr>
        <p:txBody>
          <a:bodyPr wrap="square" rtlCol="0">
            <a:spAutoFit/>
          </a:bodyPr>
          <a:lstStyle/>
          <a:p>
            <a:pPr algn="l"/>
            <a:r>
              <a:rPr lang="en-IN" sz="2000" b="1" dirty="0">
                <a:solidFill>
                  <a:schemeClr val="bg2">
                    <a:lumMod val="50000"/>
                  </a:schemeClr>
                </a:solidFill>
                <a:latin typeface="Times New Roman" panose="02020603050405020304" pitchFamily="18" charset="0"/>
                <a:cs typeface="Times New Roman" panose="02020603050405020304" pitchFamily="18" charset="0"/>
              </a:rPr>
              <a:t>Name: </a:t>
            </a:r>
            <a:r>
              <a:rPr lang="en-IN" sz="2000" dirty="0">
                <a:solidFill>
                  <a:schemeClr val="bg2">
                    <a:lumMod val="50000"/>
                  </a:schemeClr>
                </a:solidFill>
                <a:latin typeface="Times New Roman" panose="02020603050405020304" pitchFamily="18" charset="0"/>
                <a:cs typeface="Times New Roman" panose="02020603050405020304" pitchFamily="18" charset="0"/>
              </a:rPr>
              <a:t>KALAISELVI Y                                                  </a:t>
            </a:r>
            <a:r>
              <a:rPr lang="en-IN" sz="2000" b="1" dirty="0">
                <a:solidFill>
                  <a:schemeClr val="bg2">
                    <a:lumMod val="50000"/>
                  </a:schemeClr>
                </a:solidFill>
                <a:latin typeface="Times New Roman" panose="02020603050405020304" pitchFamily="18" charset="0"/>
                <a:cs typeface="Times New Roman" panose="02020603050405020304" pitchFamily="18" charset="0"/>
              </a:rPr>
              <a:t>Register Number: </a:t>
            </a:r>
            <a:r>
              <a:rPr lang="en-IN" sz="2000" dirty="0">
                <a:solidFill>
                  <a:schemeClr val="bg2">
                    <a:lumMod val="50000"/>
                  </a:schemeClr>
                </a:solidFill>
                <a:latin typeface="Times New Roman" panose="02020603050405020304" pitchFamily="18" charset="0"/>
                <a:cs typeface="Times New Roman" panose="02020603050405020304" pitchFamily="18" charset="0"/>
              </a:rPr>
              <a:t>2025620026                                                  </a:t>
            </a:r>
            <a:r>
              <a:rPr lang="en-IN" sz="2000" b="1" dirty="0">
                <a:solidFill>
                  <a:schemeClr val="bg2">
                    <a:lumMod val="50000"/>
                  </a:schemeClr>
                </a:solidFill>
                <a:latin typeface="Times New Roman" panose="02020603050405020304" pitchFamily="18" charset="0"/>
                <a:cs typeface="Times New Roman" panose="02020603050405020304" pitchFamily="18" charset="0"/>
              </a:rPr>
              <a:t>Department: </a:t>
            </a:r>
            <a:r>
              <a:rPr lang="en-IN" sz="2000" dirty="0">
                <a:solidFill>
                  <a:schemeClr val="bg2">
                    <a:lumMod val="50000"/>
                  </a:schemeClr>
                </a:solidFill>
                <a:latin typeface="Times New Roman" panose="02020603050405020304" pitchFamily="18" charset="0"/>
                <a:cs typeface="Times New Roman" panose="02020603050405020304" pitchFamily="18" charset="0"/>
              </a:rPr>
              <a:t>Computer Science and Engineering(AI and ML)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28E48-92F3-3E7A-0911-15F194CFB6E9}"/>
              </a:ext>
            </a:extLst>
          </p:cNvPr>
          <p:cNvSpPr>
            <a:spLocks noGrp="1"/>
          </p:cNvSpPr>
          <p:nvPr>
            <p:ph type="title"/>
          </p:nvPr>
        </p:nvSpPr>
        <p:spPr>
          <a:xfrm>
            <a:off x="897280" y="228600"/>
            <a:ext cx="7315200" cy="576064"/>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Outline</a:t>
            </a:r>
            <a:endParaRPr lang="en-IN" sz="36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DC8C26A-9C07-79D8-BA84-7C79743BED0A}"/>
              </a:ext>
            </a:extLst>
          </p:cNvPr>
          <p:cNvSpPr>
            <a:spLocks noGrp="1"/>
          </p:cNvSpPr>
          <p:nvPr>
            <p:ph idx="1"/>
          </p:nvPr>
        </p:nvSpPr>
        <p:spPr>
          <a:xfrm>
            <a:off x="467543" y="1196752"/>
            <a:ext cx="3816423" cy="4968552"/>
          </a:xfrm>
        </p:spPr>
        <p:txBody>
          <a:bodyPr/>
          <a:lstStyle/>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Introduction</a:t>
            </a:r>
          </a:p>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Problem Statement</a:t>
            </a:r>
          </a:p>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Literature Survey</a:t>
            </a:r>
          </a:p>
          <a:p>
            <a:pPr>
              <a:buFont typeface="Wingdings" panose="05000000000000000000" pitchFamily="2" charset="2"/>
              <a:buChar char="§"/>
            </a:pPr>
            <a:r>
              <a:rPr lang="en-US" sz="2500" dirty="0">
                <a:solidFill>
                  <a:srgbClr val="0044A8"/>
                </a:solidFill>
                <a:latin typeface="Times New Roman" panose="02020603050405020304" pitchFamily="18" charset="0"/>
                <a:cs typeface="Times New Roman" panose="02020603050405020304" pitchFamily="18" charset="0"/>
              </a:rPr>
              <a:t>Existing System</a:t>
            </a:r>
          </a:p>
          <a:p>
            <a:pPr>
              <a:buFont typeface="Wingdings" panose="05000000000000000000" pitchFamily="2" charset="2"/>
              <a:buChar char="§"/>
            </a:pPr>
            <a:r>
              <a:rPr lang="en-US" sz="2500" dirty="0">
                <a:solidFill>
                  <a:srgbClr val="0044A8"/>
                </a:solidFill>
                <a:latin typeface="Times New Roman" panose="02020603050405020304" pitchFamily="18" charset="0"/>
                <a:cs typeface="Times New Roman" panose="02020603050405020304" pitchFamily="18" charset="0"/>
              </a:rPr>
              <a:t>Limitations of Existing System</a:t>
            </a:r>
          </a:p>
          <a:p>
            <a:pPr>
              <a:buFont typeface="Wingdings" panose="05000000000000000000" pitchFamily="2" charset="2"/>
              <a:buChar char="§"/>
            </a:pPr>
            <a:r>
              <a:rPr lang="en-US" sz="2500" dirty="0">
                <a:solidFill>
                  <a:srgbClr val="0044A8"/>
                </a:solidFill>
                <a:latin typeface="Times New Roman" panose="02020603050405020304" pitchFamily="18" charset="0"/>
                <a:cs typeface="Times New Roman" panose="02020603050405020304" pitchFamily="18" charset="0"/>
              </a:rPr>
              <a:t>Research Gap</a:t>
            </a:r>
            <a:endParaRPr lang="en-IN" sz="2500" dirty="0">
              <a:solidFill>
                <a:srgbClr val="0044A8"/>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Objectives</a:t>
            </a:r>
          </a:p>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Proposed System</a:t>
            </a:r>
          </a:p>
          <a:p>
            <a:pPr>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Modules</a:t>
            </a:r>
          </a:p>
          <a:p>
            <a:pPr>
              <a:buFont typeface="Wingdings" panose="05000000000000000000" pitchFamily="2" charset="2"/>
              <a:buChar char="§"/>
            </a:pPr>
            <a:r>
              <a:rPr lang="en-US" altLang="en-US" sz="2500" dirty="0">
                <a:solidFill>
                  <a:srgbClr val="0044A8"/>
                </a:solidFill>
                <a:latin typeface="Times New Roman" panose="02020603050405020304" pitchFamily="18" charset="0"/>
                <a:cs typeface="Times New Roman" panose="02020603050405020304" pitchFamily="18" charset="0"/>
              </a:rPr>
              <a:t>High Level Architecture    Diagram</a:t>
            </a:r>
          </a:p>
          <a:p>
            <a:pPr>
              <a:buFont typeface="Wingdings" panose="05000000000000000000" pitchFamily="2" charset="2"/>
              <a:buChar char="§"/>
            </a:pPr>
            <a:endParaRPr lang="en-IN" sz="2500" dirty="0">
              <a:solidFill>
                <a:srgbClr val="0044A8"/>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500" dirty="0">
              <a:solidFill>
                <a:srgbClr val="0044A8"/>
              </a:solidFill>
            </a:endParaRPr>
          </a:p>
        </p:txBody>
      </p:sp>
      <p:sp>
        <p:nvSpPr>
          <p:cNvPr id="5" name="TextBox 4">
            <a:extLst>
              <a:ext uri="{FF2B5EF4-FFF2-40B4-BE49-F238E27FC236}">
                <a16:creationId xmlns:a16="http://schemas.microsoft.com/office/drawing/2014/main" id="{817A97E6-34D1-414F-C58F-8A47A51F692D}"/>
              </a:ext>
            </a:extLst>
          </p:cNvPr>
          <p:cNvSpPr txBox="1"/>
          <p:nvPr/>
        </p:nvSpPr>
        <p:spPr>
          <a:xfrm>
            <a:off x="4832474" y="1206799"/>
            <a:ext cx="3816424" cy="2785378"/>
          </a:xfrm>
          <a:prstGeom prst="rect">
            <a:avLst/>
          </a:prstGeom>
          <a:noFill/>
        </p:spPr>
        <p:txBody>
          <a:bodyPr wrap="square" rtlCol="0">
            <a:spAutoFit/>
          </a:bodyPr>
          <a:lstStyle/>
          <a:p>
            <a:pPr marL="87313" indent="357188" algn="l">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High-Level Flow</a:t>
            </a:r>
          </a:p>
          <a:p>
            <a:pPr marL="87313" indent="357188" algn="l">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Tools &amp; Platform</a:t>
            </a:r>
          </a:p>
          <a:p>
            <a:pPr marL="87313" indent="357188" algn="l">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Expected Output</a:t>
            </a:r>
          </a:p>
          <a:p>
            <a:pPr marL="87313" indent="357188" algn="l">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12-Week Project Plan</a:t>
            </a:r>
          </a:p>
          <a:p>
            <a:pPr marL="87313" indent="357188" algn="l">
              <a:buFont typeface="Wingdings" panose="05000000000000000000" pitchFamily="2" charset="2"/>
              <a:buChar char="§"/>
            </a:pPr>
            <a:r>
              <a:rPr lang="en-IN" sz="2500" dirty="0">
                <a:solidFill>
                  <a:srgbClr val="0044A8"/>
                </a:solidFill>
                <a:latin typeface="Times New Roman" panose="02020603050405020304" pitchFamily="18" charset="0"/>
                <a:cs typeface="Times New Roman" panose="02020603050405020304" pitchFamily="18" charset="0"/>
              </a:rPr>
              <a:t>Applications</a:t>
            </a:r>
          </a:p>
          <a:p>
            <a:pPr marL="87313" indent="357188" algn="l">
              <a:buFont typeface="Wingdings" panose="05000000000000000000" pitchFamily="2" charset="2"/>
              <a:buChar char="§"/>
            </a:pPr>
            <a:r>
              <a:rPr lang="en-US" altLang="en-US" sz="2500" dirty="0">
                <a:solidFill>
                  <a:srgbClr val="0044A8"/>
                </a:solidFill>
                <a:latin typeface="Times New Roman" panose="02020603050405020304" pitchFamily="18" charset="0"/>
                <a:cs typeface="Times New Roman" panose="02020603050405020304" pitchFamily="18" charset="0"/>
              </a:rPr>
              <a:t>References</a:t>
            </a:r>
            <a:br>
              <a:rPr lang="en-US" altLang="en-US" sz="2500" dirty="0">
                <a:solidFill>
                  <a:srgbClr val="0044A8"/>
                </a:solidFill>
                <a:latin typeface="Times New Roman" panose="02020603050405020304" pitchFamily="18" charset="0"/>
                <a:cs typeface="Times New Roman" panose="02020603050405020304" pitchFamily="18" charset="0"/>
              </a:rPr>
            </a:br>
            <a:endParaRPr lang="en-IN" sz="2500" dirty="0"/>
          </a:p>
        </p:txBody>
      </p:sp>
    </p:spTree>
    <p:extLst>
      <p:ext uri="{BB962C8B-B14F-4D97-AF65-F5344CB8AC3E}">
        <p14:creationId xmlns:p14="http://schemas.microsoft.com/office/powerpoint/2010/main" val="112806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0" end="0"/>
                                            </p:txEl>
                                          </p:spTgt>
                                        </p:tgtEl>
                                        <p:attrNameLst>
                                          <p:attrName>style.visibility</p:attrName>
                                        </p:attrNameLst>
                                      </p:cBhvr>
                                      <p:to>
                                        <p:strVal val="visible"/>
                                      </p:to>
                                    </p:set>
                                    <p:animEffect transition="in" filter="fade">
                                      <p:cBhvr>
                                        <p:cTn id="32" dur="500"/>
                                        <p:tgtEl>
                                          <p:spTgt spid="3">
                                            <p:txEl>
                                              <p:pRg st="0" end="0"/>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par>
                                <p:cTn id="36" presetID="10" presetClass="entr" presetSubtype="0" fill="hold" nodeType="with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fade">
                                      <p:cBhvr>
                                        <p:cTn id="38" dur="500"/>
                                        <p:tgtEl>
                                          <p:spTgt spid="3">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Effect transition="in" filter="fade">
                                      <p:cBhvr>
                                        <p:cTn id="41" dur="500"/>
                                        <p:tgtEl>
                                          <p:spTgt spid="3">
                                            <p:txEl>
                                              <p:pRg st="8" end="8"/>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3">
                                            <p:txEl>
                                              <p:pRg st="9" end="9"/>
                                            </p:txEl>
                                          </p:spTgt>
                                        </p:tgtEl>
                                        <p:attrNameLst>
                                          <p:attrName>style.visibility</p:attrName>
                                        </p:attrNameLst>
                                      </p:cBhvr>
                                      <p:to>
                                        <p:strVal val="visible"/>
                                      </p:to>
                                    </p:set>
                                    <p:animEffect transition="in" filter="fade">
                                      <p:cBhvr>
                                        <p:cTn id="44" dur="500"/>
                                        <p:tgtEl>
                                          <p:spTgt spid="3">
                                            <p:txEl>
                                              <p:pRg st="9" end="9"/>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5">
                                            <p:txEl>
                                              <p:pRg st="0" end="0"/>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2" end="2"/>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
                                            <p:txEl>
                                              <p:pRg st="4" end="4"/>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BF575-FD3B-26BF-CB19-C0C0E3626DAC}"/>
              </a:ext>
            </a:extLst>
          </p:cNvPr>
          <p:cNvSpPr>
            <a:spLocks noGrp="1"/>
          </p:cNvSpPr>
          <p:nvPr>
            <p:ph type="title"/>
          </p:nvPr>
        </p:nvSpPr>
        <p:spPr>
          <a:xfrm>
            <a:off x="395536" y="22860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Introduction</a:t>
            </a:r>
          </a:p>
        </p:txBody>
      </p:sp>
      <p:sp>
        <p:nvSpPr>
          <p:cNvPr id="4" name="Rectangle 1">
            <a:extLst>
              <a:ext uri="{FF2B5EF4-FFF2-40B4-BE49-F238E27FC236}">
                <a16:creationId xmlns:a16="http://schemas.microsoft.com/office/drawing/2014/main" id="{4BABC368-8F7B-0B66-3C49-FB34DD355A58}"/>
              </a:ext>
            </a:extLst>
          </p:cNvPr>
          <p:cNvSpPr>
            <a:spLocks noGrp="1" noChangeArrowheads="1"/>
          </p:cNvSpPr>
          <p:nvPr>
            <p:ph idx="1"/>
          </p:nvPr>
        </p:nvSpPr>
        <p:spPr bwMode="auto">
          <a:xfrm>
            <a:off x="359532" y="1268760"/>
            <a:ext cx="7387208" cy="45858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CPU scheduling is an important function of an operating system.</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It decides which process gets CPU execution.</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Modern computers use multicore processors.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Multiple processes run simultaneously.</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Scheduling occurs internally and is not visible to users or students.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Difficult to understand process allocation and execution.</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A simulator is required to visualize and learn CPU scheduling.</a:t>
            </a:r>
          </a:p>
          <a:p>
            <a:pPr lvl="0" algn="just"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simulator also stores execution results in CSV files and applies Machine Learning analysis to study performance and predict efficient scheduling behavior.</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1910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A10EA-7C6F-0EDB-17E1-1F8B8E5749C2}"/>
              </a:ext>
            </a:extLst>
          </p:cNvPr>
          <p:cNvSpPr>
            <a:spLocks noGrp="1"/>
          </p:cNvSpPr>
          <p:nvPr>
            <p:ph type="title"/>
          </p:nvPr>
        </p:nvSpPr>
        <p:spPr>
          <a:xfrm>
            <a:off x="467544" y="205768"/>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Problem Statement</a:t>
            </a:r>
          </a:p>
        </p:txBody>
      </p:sp>
      <p:sp>
        <p:nvSpPr>
          <p:cNvPr id="4" name="Rectangle 1">
            <a:extLst>
              <a:ext uri="{FF2B5EF4-FFF2-40B4-BE49-F238E27FC236}">
                <a16:creationId xmlns:a16="http://schemas.microsoft.com/office/drawing/2014/main" id="{67A13B26-3474-48B7-49EE-CC1B4D345186}"/>
              </a:ext>
            </a:extLst>
          </p:cNvPr>
          <p:cNvSpPr>
            <a:spLocks noGrp="1" noChangeArrowheads="1"/>
          </p:cNvSpPr>
          <p:nvPr>
            <p:ph idx="1"/>
          </p:nvPr>
        </p:nvSpPr>
        <p:spPr bwMode="auto">
          <a:xfrm>
            <a:off x="365920" y="1074221"/>
            <a:ext cx="82385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Modern computers use multicore processors.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Students find it difficult to understand scheduling across multiple cores.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OS schedulers run in the background.</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Scheduling process cannot be visualized.</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The project develops a simulator for demonstration.</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Shows how different scheduling algorithms distribute processes to cores.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Helps analyze performance metrics.</a:t>
            </a:r>
          </a:p>
          <a:p>
            <a:pPr marR="0" lvl="0" algn="just"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Displays waiting time, turnaround time, and CPU utilization.</a:t>
            </a:r>
          </a:p>
          <a:p>
            <a:pPr lvl="0" algn="just"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Execution results are stored in CSV files and Machine Learning analysis is used to study and compare scheduling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208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74DFF-B463-5D1D-7849-2F6D073F0064}"/>
              </a:ext>
            </a:extLst>
          </p:cNvPr>
          <p:cNvSpPr>
            <a:spLocks noGrp="1"/>
          </p:cNvSpPr>
          <p:nvPr>
            <p:ph type="title"/>
          </p:nvPr>
        </p:nvSpPr>
        <p:spPr>
          <a:xfrm>
            <a:off x="179512" y="188640"/>
            <a:ext cx="8136904" cy="715962"/>
          </a:xfrm>
        </p:spPr>
        <p:txBody>
          <a:bodyPr/>
          <a:lstStyle/>
          <a:p>
            <a:r>
              <a:rPr lang="en-US" sz="2600" b="1" dirty="0">
                <a:solidFill>
                  <a:srgbClr val="C00000"/>
                </a:solidFill>
                <a:latin typeface="Times New Roman" panose="02020603050405020304" pitchFamily="18" charset="0"/>
                <a:cs typeface="Times New Roman" panose="02020603050405020304" pitchFamily="18" charset="0"/>
              </a:rPr>
              <a:t>REF [1] TITLE: Performance Evaluation of Dynamic Round Robin Algorithms for CPU Scheduling</a:t>
            </a:r>
            <a:endParaRPr lang="en-IN" sz="2600" b="1" dirty="0">
              <a:solidFill>
                <a:srgbClr val="C00000"/>
              </a:solidFill>
            </a:endParaRPr>
          </a:p>
        </p:txBody>
      </p:sp>
      <p:sp>
        <p:nvSpPr>
          <p:cNvPr id="3" name="Content Placeholder 2">
            <a:extLst>
              <a:ext uri="{FF2B5EF4-FFF2-40B4-BE49-F238E27FC236}">
                <a16:creationId xmlns:a16="http://schemas.microsoft.com/office/drawing/2014/main" id="{4B3DD198-F7BC-D951-BFBE-2FF5D8E9B371}"/>
              </a:ext>
            </a:extLst>
          </p:cNvPr>
          <p:cNvSpPr>
            <a:spLocks noGrp="1"/>
          </p:cNvSpPr>
          <p:nvPr>
            <p:ph idx="1"/>
          </p:nvPr>
        </p:nvSpPr>
        <p:spPr>
          <a:xfrm>
            <a:off x="411642" y="1484784"/>
            <a:ext cx="8192806" cy="4464496"/>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A. A. </a:t>
            </a:r>
            <a:r>
              <a:rPr lang="en-US" sz="2200" dirty="0" err="1">
                <a:solidFill>
                  <a:schemeClr val="accent4">
                    <a:lumMod val="50000"/>
                  </a:schemeClr>
                </a:solidFill>
                <a:latin typeface="Times New Roman" panose="02020603050405020304" pitchFamily="18" charset="0"/>
                <a:cs typeface="Times New Roman" panose="02020603050405020304" pitchFamily="18" charset="0"/>
              </a:rPr>
              <a:t>Alsulami</a:t>
            </a:r>
            <a:r>
              <a:rPr lang="en-US" sz="2200" dirty="0">
                <a:solidFill>
                  <a:schemeClr val="accent4">
                    <a:lumMod val="50000"/>
                  </a:schemeClr>
                </a:solidFill>
                <a:latin typeface="Times New Roman" panose="02020603050405020304" pitchFamily="18" charset="0"/>
                <a:cs typeface="Times New Roman" panose="02020603050405020304" pitchFamily="18" charset="0"/>
              </a:rPr>
              <a:t>, Q. A. Al-</a:t>
            </a:r>
            <a:r>
              <a:rPr lang="en-US" sz="2200" dirty="0" err="1">
                <a:solidFill>
                  <a:schemeClr val="accent4">
                    <a:lumMod val="50000"/>
                  </a:schemeClr>
                </a:solidFill>
                <a:latin typeface="Times New Roman" panose="02020603050405020304" pitchFamily="18" charset="0"/>
                <a:cs typeface="Times New Roman" panose="02020603050405020304" pitchFamily="18" charset="0"/>
              </a:rPr>
              <a:t>Haija</a:t>
            </a:r>
            <a:r>
              <a:rPr lang="en-US" sz="2200" dirty="0">
                <a:solidFill>
                  <a:schemeClr val="accent4">
                    <a:lumMod val="50000"/>
                  </a:schemeClr>
                </a:solidFill>
                <a:latin typeface="Times New Roman" panose="02020603050405020304" pitchFamily="18" charset="0"/>
                <a:cs typeface="Times New Roman" panose="02020603050405020304" pitchFamily="18" charset="0"/>
              </a:rPr>
              <a:t>, M. I. </a:t>
            </a:r>
            <a:r>
              <a:rPr lang="en-US" sz="2200" dirty="0" err="1">
                <a:solidFill>
                  <a:schemeClr val="accent4">
                    <a:lumMod val="50000"/>
                  </a:schemeClr>
                </a:solidFill>
                <a:latin typeface="Times New Roman" panose="02020603050405020304" pitchFamily="18" charset="0"/>
                <a:cs typeface="Times New Roman" panose="02020603050405020304" pitchFamily="18" charset="0"/>
              </a:rPr>
              <a:t>Thanoon</a:t>
            </a:r>
            <a:r>
              <a:rPr lang="en-US" sz="2200" dirty="0">
                <a:solidFill>
                  <a:schemeClr val="accent4">
                    <a:lumMod val="50000"/>
                  </a:schemeClr>
                </a:solidFill>
                <a:latin typeface="Times New Roman" panose="02020603050405020304" pitchFamily="18" charset="0"/>
                <a:cs typeface="Times New Roman" panose="02020603050405020304" pitchFamily="18" charset="0"/>
              </a:rPr>
              <a:t>, Q. Mao</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CONFERENCE:</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IEEE </a:t>
            </a:r>
            <a:r>
              <a:rPr lang="en-US" sz="2200" dirty="0" err="1">
                <a:solidFill>
                  <a:schemeClr val="accent4">
                    <a:lumMod val="50000"/>
                  </a:schemeClr>
                </a:solidFill>
                <a:latin typeface="Times New Roman" panose="02020603050405020304" pitchFamily="18" charset="0"/>
                <a:cs typeface="Times New Roman" panose="02020603050405020304" pitchFamily="18" charset="0"/>
              </a:rPr>
              <a:t>SoutheastCon</a:t>
            </a:r>
            <a:endParaRPr lang="en-US" sz="2200" dirty="0">
              <a:solidFill>
                <a:schemeClr val="accent4">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2019</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SUMMARY / ALGORITHM:</a:t>
            </a:r>
            <a:endParaRPr lang="en-US" sz="2200" dirty="0">
              <a:solidFill>
                <a:schemeClr val="accent4">
                  <a:lumMod val="50000"/>
                </a:schemeClr>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This paper evaluates different variations of the Round Robin scheduling algorithm. The study mainly focuses on improving time quantum selection to reduce waiting time and turnaround time. </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Experimental results show that dynamic time quantum performs better than traditional Round Robin. However, the work is limited to algorithm performance analysis and does not provide visualization or multicore execution.</a:t>
            </a:r>
          </a:p>
          <a:p>
            <a:pPr>
              <a:buFont typeface="Wingdings" panose="05000000000000000000" pitchFamily="2" charset="2"/>
              <a:buChar char="§"/>
            </a:pPr>
            <a:endParaRPr lang="en-IN" sz="2200" dirty="0">
              <a:solidFill>
                <a:schemeClr val="accent4">
                  <a:lumMod val="50000"/>
                </a:schemeClr>
              </a:solidFill>
            </a:endParaRPr>
          </a:p>
        </p:txBody>
      </p:sp>
    </p:spTree>
    <p:extLst>
      <p:ext uri="{BB962C8B-B14F-4D97-AF65-F5344CB8AC3E}">
        <p14:creationId xmlns:p14="http://schemas.microsoft.com/office/powerpoint/2010/main" val="1965467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051D2-6F60-BE18-62FF-3271253854C0}"/>
              </a:ext>
            </a:extLst>
          </p:cNvPr>
          <p:cNvSpPr>
            <a:spLocks noGrp="1"/>
          </p:cNvSpPr>
          <p:nvPr>
            <p:ph type="title"/>
          </p:nvPr>
        </p:nvSpPr>
        <p:spPr>
          <a:xfrm>
            <a:off x="251520" y="116632"/>
            <a:ext cx="8237512" cy="720080"/>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REF [2] TITLE: Simulation of CPU Scheduling Algorithms for Efficient Execution of Processes</a:t>
            </a:r>
            <a:endParaRPr lang="en-IN" sz="3000" b="1" dirty="0">
              <a:solidFill>
                <a:srgbClr val="C00000"/>
              </a:solidFill>
            </a:endParaRPr>
          </a:p>
        </p:txBody>
      </p:sp>
      <p:sp>
        <p:nvSpPr>
          <p:cNvPr id="3" name="Content Placeholder 2">
            <a:extLst>
              <a:ext uri="{FF2B5EF4-FFF2-40B4-BE49-F238E27FC236}">
                <a16:creationId xmlns:a16="http://schemas.microsoft.com/office/drawing/2014/main" id="{9BC2EB19-7266-6922-A481-312177C67016}"/>
              </a:ext>
            </a:extLst>
          </p:cNvPr>
          <p:cNvSpPr>
            <a:spLocks noGrp="1"/>
          </p:cNvSpPr>
          <p:nvPr>
            <p:ph idx="1"/>
          </p:nvPr>
        </p:nvSpPr>
        <p:spPr>
          <a:xfrm>
            <a:off x="654968" y="1268760"/>
            <a:ext cx="8093496" cy="5112568"/>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K. </a:t>
            </a:r>
            <a:r>
              <a:rPr lang="en-US" sz="2200" dirty="0" err="1">
                <a:solidFill>
                  <a:schemeClr val="accent4">
                    <a:lumMod val="50000"/>
                  </a:schemeClr>
                </a:solidFill>
                <a:latin typeface="Times New Roman" panose="02020603050405020304" pitchFamily="18" charset="0"/>
                <a:cs typeface="Times New Roman" panose="02020603050405020304" pitchFamily="18" charset="0"/>
              </a:rPr>
              <a:t>Vayadande</a:t>
            </a:r>
            <a:r>
              <a:rPr lang="en-US" sz="2200" dirty="0">
                <a:solidFill>
                  <a:schemeClr val="accent4">
                    <a:lumMod val="50000"/>
                  </a:schemeClr>
                </a:solidFill>
                <a:latin typeface="Times New Roman" panose="02020603050405020304" pitchFamily="18" charset="0"/>
                <a:cs typeface="Times New Roman" panose="02020603050405020304" pitchFamily="18" charset="0"/>
              </a:rPr>
              <a:t>, P. Sheth, D. Pawal, A. Pathak, K. Paralkar, S. Patil</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CONFERENCE:</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International Conference for Advancement in Technology (ICONAT)</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2023</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SUMMARY / ALGORITHM:</a:t>
            </a:r>
            <a:endParaRPr lang="en-US" sz="2200" dirty="0">
              <a:solidFill>
                <a:srgbClr val="0044A8"/>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This paper presents a simulator to study CPU scheduling algorithms such as FCFS, SJF, Priority, and Round Robin.</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 The simulator calculates performance metrics including waiting time and turnaround time for processes. </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The study helps in comparing algorithms but mainly considers a single-processor environment and lacks multicore visualization.</a:t>
            </a:r>
          </a:p>
          <a:p>
            <a:endParaRPr lang="en-IN" dirty="0"/>
          </a:p>
        </p:txBody>
      </p:sp>
    </p:spTree>
    <p:extLst>
      <p:ext uri="{BB962C8B-B14F-4D97-AF65-F5344CB8AC3E}">
        <p14:creationId xmlns:p14="http://schemas.microsoft.com/office/powerpoint/2010/main" val="2157713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FAA87-06A7-4116-D0C2-0D6C714830BC}"/>
              </a:ext>
            </a:extLst>
          </p:cNvPr>
          <p:cNvSpPr>
            <a:spLocks noGrp="1"/>
          </p:cNvSpPr>
          <p:nvPr>
            <p:ph type="title"/>
          </p:nvPr>
        </p:nvSpPr>
        <p:spPr>
          <a:xfrm>
            <a:off x="395536" y="404664"/>
            <a:ext cx="7488832" cy="648072"/>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REF [3] TITLE: Comparative Analysis of Scheduling Algorithms for Grid Computing</a:t>
            </a:r>
            <a:br>
              <a:rPr lang="en-US" sz="3000" b="1" dirty="0">
                <a:solidFill>
                  <a:srgbClr val="C00000"/>
                </a:solidFill>
                <a:latin typeface="Times New Roman" panose="02020603050405020304" pitchFamily="18" charset="0"/>
                <a:cs typeface="Times New Roman" panose="02020603050405020304" pitchFamily="18" charset="0"/>
              </a:rPr>
            </a:br>
            <a:endParaRPr lang="en-IN" sz="3000" b="1" dirty="0">
              <a:solidFill>
                <a:srgbClr val="C00000"/>
              </a:solidFill>
            </a:endParaRPr>
          </a:p>
        </p:txBody>
      </p:sp>
      <p:sp>
        <p:nvSpPr>
          <p:cNvPr id="3" name="Content Placeholder 2">
            <a:extLst>
              <a:ext uri="{FF2B5EF4-FFF2-40B4-BE49-F238E27FC236}">
                <a16:creationId xmlns:a16="http://schemas.microsoft.com/office/drawing/2014/main" id="{BA073B1E-055F-2EAD-A317-7AB41BFD5414}"/>
              </a:ext>
            </a:extLst>
          </p:cNvPr>
          <p:cNvSpPr>
            <a:spLocks noGrp="1"/>
          </p:cNvSpPr>
          <p:nvPr>
            <p:ph idx="1"/>
          </p:nvPr>
        </p:nvSpPr>
        <p:spPr>
          <a:xfrm>
            <a:off x="482352" y="1333500"/>
            <a:ext cx="8122096" cy="4191000"/>
          </a:xfrm>
        </p:spPr>
        <p:txBody>
          <a:bodyPr/>
          <a:lstStyle/>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S. Sharma, A. Chhabra, S. Sharma</a:t>
            </a: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CONFERENCE:</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International Conference on Advances in Computing, Communications and Informatics (ICACCI)</a:t>
            </a: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2015</a:t>
            </a: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SUMMARY / ALGORITHM:</a:t>
            </a:r>
            <a:endParaRPr lang="en-US" sz="2200" dirty="0">
              <a:solidFill>
                <a:srgbClr val="0044A8"/>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paper analyzes scheduling algorithms in distributed grid computing environments. It compares algorithms based on execution time and system performance. </a:t>
            </a:r>
          </a:p>
          <a:p>
            <a:pPr lvl="1" algn="just">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research shows the importance of proper scheduling in resource allocation but does not focus on operating system level CPU scheduling learning or visualization tools.</a:t>
            </a:r>
          </a:p>
          <a:p>
            <a:pPr marL="0" indent="0" algn="just">
              <a:buNone/>
            </a:pPr>
            <a:endParaRPr lang="en-IN" sz="2200" dirty="0"/>
          </a:p>
        </p:txBody>
      </p:sp>
    </p:spTree>
    <p:extLst>
      <p:ext uri="{BB962C8B-B14F-4D97-AF65-F5344CB8AC3E}">
        <p14:creationId xmlns:p14="http://schemas.microsoft.com/office/powerpoint/2010/main" val="2420457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BD0D-A0FE-E33D-9E75-4128DCCD0CA9}"/>
              </a:ext>
            </a:extLst>
          </p:cNvPr>
          <p:cNvSpPr>
            <a:spLocks noGrp="1"/>
          </p:cNvSpPr>
          <p:nvPr>
            <p:ph type="title"/>
          </p:nvPr>
        </p:nvSpPr>
        <p:spPr>
          <a:xfrm>
            <a:off x="251520" y="228600"/>
            <a:ext cx="8352928" cy="964034"/>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REF [4] TITLE: E2C Simulator for Heterogeneous Systems</a:t>
            </a:r>
            <a:br>
              <a:rPr lang="en-US" sz="3000" b="1" dirty="0">
                <a:solidFill>
                  <a:srgbClr val="C00000"/>
                </a:solidFill>
                <a:latin typeface="Times New Roman" panose="02020603050405020304" pitchFamily="18" charset="0"/>
                <a:cs typeface="Times New Roman" panose="02020603050405020304" pitchFamily="18" charset="0"/>
              </a:rPr>
            </a:br>
            <a:endParaRPr lang="en-IN" sz="30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F7FA608-B3D8-0DB3-E83C-932ABC7DC984}"/>
              </a:ext>
            </a:extLst>
          </p:cNvPr>
          <p:cNvSpPr>
            <a:spLocks noGrp="1"/>
          </p:cNvSpPr>
          <p:nvPr>
            <p:ph idx="1"/>
          </p:nvPr>
        </p:nvSpPr>
        <p:spPr>
          <a:xfrm>
            <a:off x="284664" y="1340768"/>
            <a:ext cx="8352928" cy="4407024"/>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Research group on computer architecture education</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CONFERENCE:</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Computer Architecture and Education Research</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2021</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ALGORITHM / SUMMARY:</a:t>
            </a:r>
            <a:endParaRPr lang="en-US" sz="2200" dirty="0">
              <a:solidFill>
                <a:schemeClr val="accent4">
                  <a:lumMod val="50000"/>
                </a:schemeClr>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This paper introduces an educational simulator (E2C) designed to teach scheduling concepts in heterogeneous and parallel systems. It demonstrates how different processors affect execution performance and helps learners understand parallel execution.</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The simulator is complex for beginners and not focused on simple operating system scheduling. Multicore Gantt chart visualization and easy algorithm comparison are not clearly provided.</a:t>
            </a:r>
          </a:p>
          <a:p>
            <a:pPr>
              <a:buFont typeface="Wingdings" panose="05000000000000000000" pitchFamily="2" charset="2"/>
              <a:buChar char="§"/>
            </a:pPr>
            <a:endParaRPr lang="en-US" sz="2200" b="1" dirty="0">
              <a:solidFill>
                <a:schemeClr val="accent4">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21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BF8D8-0386-449E-2DF2-74552DAE5BAC}"/>
              </a:ext>
            </a:extLst>
          </p:cNvPr>
          <p:cNvSpPr>
            <a:spLocks noGrp="1"/>
          </p:cNvSpPr>
          <p:nvPr>
            <p:ph type="title"/>
          </p:nvPr>
        </p:nvSpPr>
        <p:spPr>
          <a:xfrm>
            <a:off x="611560" y="332656"/>
            <a:ext cx="7315200" cy="715962"/>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REF [5] TITLE: Visualization Tools for Operating System Learning</a:t>
            </a:r>
            <a:br>
              <a:rPr lang="en-US" sz="3000" b="1" dirty="0">
                <a:solidFill>
                  <a:srgbClr val="C00000"/>
                </a:solidFill>
                <a:latin typeface="Times New Roman" panose="02020603050405020304" pitchFamily="18" charset="0"/>
                <a:cs typeface="Times New Roman" panose="02020603050405020304" pitchFamily="18" charset="0"/>
              </a:rPr>
            </a:br>
            <a:endParaRPr lang="en-IN" sz="3000" dirty="0">
              <a:solidFill>
                <a:srgbClr val="C0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496A9E5-1671-9E29-7772-6FB9133F5BC4}"/>
              </a:ext>
            </a:extLst>
          </p:cNvPr>
          <p:cNvSpPr>
            <a:spLocks noGrp="1"/>
          </p:cNvSpPr>
          <p:nvPr>
            <p:ph idx="1"/>
          </p:nvPr>
        </p:nvSpPr>
        <p:spPr>
          <a:xfrm>
            <a:off x="467544" y="1196752"/>
            <a:ext cx="8064896" cy="4191000"/>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OS education researchers</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JOURNAL:</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Interactive Learning Technologies</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chemeClr val="accent4">
                    <a:lumMod val="50000"/>
                  </a:schemeClr>
                </a:solidFill>
                <a:latin typeface="Times New Roman" panose="02020603050405020304" pitchFamily="18" charset="0"/>
                <a:cs typeface="Times New Roman" panose="02020603050405020304" pitchFamily="18" charset="0"/>
              </a:rPr>
              <a:t>2022</a:t>
            </a: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ALGORITHM / SUMMARY:</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The study highlights the importance of visualization tools in teaching operating system concepts. It shows that graphical demonstrations improve student understanding of process execution and scheduling behavior.</a:t>
            </a:r>
          </a:p>
          <a:p>
            <a:pPr lvl="1" algn="just">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Existing tools lack multicore execution visualization and do not allow easy comparison of multiple scheduling algorithms with performance metrics.</a:t>
            </a:r>
          </a:p>
          <a:p>
            <a:pPr>
              <a:buFont typeface="Wingdings" panose="05000000000000000000" pitchFamily="2" charset="2"/>
              <a:buChar char="§"/>
            </a:pPr>
            <a:endParaRPr lang="en-IN" sz="2200" dirty="0">
              <a:solidFill>
                <a:schemeClr val="accent4">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98291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30B3A-FA54-37D6-D8FE-8FABBB0370B8}"/>
              </a:ext>
            </a:extLst>
          </p:cNvPr>
          <p:cNvSpPr>
            <a:spLocks noGrp="1"/>
          </p:cNvSpPr>
          <p:nvPr>
            <p:ph type="title"/>
          </p:nvPr>
        </p:nvSpPr>
        <p:spPr>
          <a:xfrm>
            <a:off x="179512" y="116632"/>
            <a:ext cx="7762056" cy="715962"/>
          </a:xfrm>
        </p:spPr>
        <p:txBody>
          <a:bodyPr/>
          <a:lstStyle/>
          <a:p>
            <a:r>
              <a:rPr lang="en-US" sz="3000" b="1" dirty="0">
                <a:solidFill>
                  <a:srgbClr val="C00000"/>
                </a:solidFill>
                <a:latin typeface="Times New Roman" panose="02020603050405020304" pitchFamily="18" charset="0"/>
                <a:cs typeface="Times New Roman" panose="02020603050405020304" pitchFamily="18" charset="0"/>
              </a:rPr>
              <a:t>REF [6] TITLE: CPU Scheduling Algorithms: Case &amp; Comparative Study</a:t>
            </a:r>
            <a:endParaRPr lang="en-IN" sz="3000" b="1" dirty="0">
              <a:solidFill>
                <a:srgbClr val="C00000"/>
              </a:solidFill>
            </a:endParaRPr>
          </a:p>
        </p:txBody>
      </p:sp>
      <p:sp>
        <p:nvSpPr>
          <p:cNvPr id="3" name="Content Placeholder 2">
            <a:extLst>
              <a:ext uri="{FF2B5EF4-FFF2-40B4-BE49-F238E27FC236}">
                <a16:creationId xmlns:a16="http://schemas.microsoft.com/office/drawing/2014/main" id="{4682E373-E987-F27F-0F7D-F5D1F5EF8FB9}"/>
              </a:ext>
            </a:extLst>
          </p:cNvPr>
          <p:cNvSpPr>
            <a:spLocks noGrp="1"/>
          </p:cNvSpPr>
          <p:nvPr>
            <p:ph idx="1"/>
          </p:nvPr>
        </p:nvSpPr>
        <p:spPr>
          <a:xfrm>
            <a:off x="539552" y="1052736"/>
            <a:ext cx="7992888" cy="4335016"/>
          </a:xfrm>
        </p:spPr>
        <p:txBody>
          <a:bodyPr/>
          <a:lstStyle/>
          <a:p>
            <a:pPr marL="0" indent="0" algn="just">
              <a:buNone/>
            </a:pPr>
            <a:endParaRPr lang="en-US" sz="2200"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AUTHORS:</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S. Zouaoui, L. Boussaid, A. </a:t>
            </a:r>
            <a:r>
              <a:rPr lang="en-US" sz="2200" dirty="0" err="1">
                <a:solidFill>
                  <a:srgbClr val="000000"/>
                </a:solidFill>
                <a:latin typeface="Times New Roman" panose="02020603050405020304" pitchFamily="18" charset="0"/>
                <a:cs typeface="Times New Roman" panose="02020603050405020304" pitchFamily="18" charset="0"/>
              </a:rPr>
              <a:t>Mtibaa</a:t>
            </a:r>
            <a:endParaRPr lang="en-US" sz="2200"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CONFERENCE:</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International Conference on Automatic Control and Computer Engineering (STA)</a:t>
            </a: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YEAR:</a:t>
            </a:r>
            <a:r>
              <a:rPr lang="en-US" sz="2200" dirty="0">
                <a:solidFill>
                  <a:srgbClr val="0044A8"/>
                </a:solidFill>
                <a:latin typeface="Times New Roman" panose="02020603050405020304" pitchFamily="18" charset="0"/>
                <a:cs typeface="Times New Roman" panose="02020603050405020304" pitchFamily="18" charset="0"/>
              </a:rPr>
              <a:t> </a:t>
            </a:r>
            <a:r>
              <a:rPr lang="en-US" sz="2200" dirty="0">
                <a:solidFill>
                  <a:srgbClr val="000000"/>
                </a:solidFill>
                <a:latin typeface="Times New Roman" panose="02020603050405020304" pitchFamily="18" charset="0"/>
                <a:cs typeface="Times New Roman" panose="02020603050405020304" pitchFamily="18" charset="0"/>
              </a:rPr>
              <a:t>2016</a:t>
            </a:r>
          </a:p>
          <a:p>
            <a:pPr algn="just">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ALGORITHM / SUMMARY:</a:t>
            </a:r>
            <a:endParaRPr lang="en-US" sz="2200" dirty="0">
              <a:solidFill>
                <a:srgbClr val="000000"/>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This study compares major CPU scheduling algorithms such as FCFS, SJF, Priority, and Round Robin. The performance is analyzed using metrics like waiting time and turnaround time. </a:t>
            </a:r>
          </a:p>
          <a:p>
            <a:pPr lvl="1" algn="just">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work provides theoretical comparison but lacks implementation-based teaching support and real-time graphical execution.</a:t>
            </a:r>
          </a:p>
          <a:p>
            <a:pPr marL="0" indent="0" algn="just">
              <a:buNone/>
            </a:pPr>
            <a:endParaRPr lang="en-US" sz="2200" dirty="0">
              <a:solidFill>
                <a:srgbClr val="000000"/>
              </a:solidFill>
              <a:latin typeface="Times New Roman" panose="02020603050405020304" pitchFamily="18" charset="0"/>
              <a:cs typeface="Times New Roman" panose="02020603050405020304" pitchFamily="18" charset="0"/>
            </a:endParaRPr>
          </a:p>
          <a:p>
            <a:pPr marL="0" indent="0" algn="just">
              <a:buNone/>
            </a:pPr>
            <a:br>
              <a:rPr lang="en-US" sz="2200" dirty="0">
                <a:solidFill>
                  <a:srgbClr val="000000"/>
                </a:solidFill>
                <a:latin typeface="Times New Roman" panose="02020603050405020304" pitchFamily="18" charset="0"/>
                <a:cs typeface="Times New Roman" panose="02020603050405020304" pitchFamily="18" charset="0"/>
              </a:rPr>
            </a:br>
            <a:endParaRPr lang="en-US" sz="2200"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endParaRPr lang="en-IN" sz="2200" dirty="0">
              <a:solidFill>
                <a:srgbClr val="000000"/>
              </a:solidFill>
            </a:endParaRPr>
          </a:p>
        </p:txBody>
      </p:sp>
    </p:spTree>
    <p:extLst>
      <p:ext uri="{BB962C8B-B14F-4D97-AF65-F5344CB8AC3E}">
        <p14:creationId xmlns:p14="http://schemas.microsoft.com/office/powerpoint/2010/main" val="2620884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8986F-E9D3-B2E3-BCCA-0CA923924226}"/>
              </a:ext>
            </a:extLst>
          </p:cNvPr>
          <p:cNvSpPr>
            <a:spLocks noGrp="1"/>
          </p:cNvSpPr>
          <p:nvPr>
            <p:ph type="title"/>
          </p:nvPr>
        </p:nvSpPr>
        <p:spPr>
          <a:xfrm>
            <a:off x="179512" y="116632"/>
            <a:ext cx="7762056" cy="715962"/>
          </a:xfrm>
        </p:spPr>
        <p:txBody>
          <a:bodyPr/>
          <a:lstStyle/>
          <a:p>
            <a:r>
              <a:rPr lang="en-US" sz="2800" b="1" dirty="0">
                <a:solidFill>
                  <a:srgbClr val="C00000"/>
                </a:solidFill>
                <a:latin typeface="Times New Roman" panose="02020603050405020304" pitchFamily="18" charset="0"/>
                <a:cs typeface="Times New Roman" panose="02020603050405020304" pitchFamily="18" charset="0"/>
              </a:rPr>
              <a:t>REF [7] TITLE: Comparative Analysis of CPU Scheduling Algorithms &amp;Their Optimal Solutions</a:t>
            </a:r>
            <a:endParaRPr lang="en-IN" sz="2800" b="1" dirty="0">
              <a:solidFill>
                <a:srgbClr val="C00000"/>
              </a:solidFill>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C1B035C-FA6E-22EC-C9DF-AEC5123B463C}"/>
              </a:ext>
            </a:extLst>
          </p:cNvPr>
          <p:cNvSpPr>
            <a:spLocks noGrp="1" noChangeArrowheads="1"/>
          </p:cNvSpPr>
          <p:nvPr>
            <p:ph idx="1"/>
          </p:nvPr>
        </p:nvSpPr>
        <p:spPr bwMode="auto">
          <a:xfrm>
            <a:off x="323528" y="1191816"/>
            <a:ext cx="8284301"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AUTHORS:</a:t>
            </a:r>
            <a:r>
              <a:rPr lang="en-US" altLang="en-US" sz="2200" dirty="0">
                <a:solidFill>
                  <a:srgbClr val="0044A8"/>
                </a:solidFill>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 Rajasekhar Reddy, V. V. D. S. S. Ganesh</a:t>
            </a:r>
          </a:p>
          <a:p>
            <a:pPr lvl="0" eaLnBrk="0" hangingPunct="0">
              <a:spcBef>
                <a:spcPct val="0"/>
              </a:spcBef>
              <a:buFont typeface="Wingdings" panose="05000000000000000000" pitchFamily="2" charset="2"/>
              <a:buChar char="§"/>
            </a:pPr>
            <a:r>
              <a:rPr kumimoji="0" lang="en-US"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YEAR:</a:t>
            </a:r>
            <a:r>
              <a:rPr kumimoji="0" lang="en-US" altLang="en-US" sz="2200" b="0"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 </a:t>
            </a: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2019 (</a:t>
            </a:r>
            <a:r>
              <a:rPr lang="en-IN" sz="1900" dirty="0">
                <a:solidFill>
                  <a:srgbClr val="000000"/>
                </a:solidFill>
                <a:latin typeface="Times New Roman" panose="02020603050405020304" pitchFamily="18" charset="0"/>
                <a:cs typeface="Times New Roman" panose="02020603050405020304" pitchFamily="18" charset="0"/>
              </a:rPr>
              <a:t>IEEE ICCCMC)</a:t>
            </a:r>
            <a:endParaRPr kumimoji="0" lang="en-US" altLang="en-US" sz="19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a:p>
            <a:pPr lvl="0" eaLnBrk="0" hangingPunct="0">
              <a:spcBef>
                <a:spcPct val="0"/>
              </a:spcBef>
              <a:buFont typeface="Wingdings" panose="05000000000000000000" pitchFamily="2" charset="2"/>
              <a:buChar char="§"/>
            </a:pPr>
            <a:r>
              <a:rPr kumimoji="0" lang="en-US"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ALGORITHM</a:t>
            </a:r>
            <a:r>
              <a:rPr lang="en-US" altLang="en-US" sz="2200" b="1" dirty="0">
                <a:solidFill>
                  <a:srgbClr val="0044A8"/>
                </a:solidFill>
                <a:latin typeface="Times New Roman" panose="02020603050405020304" pitchFamily="18" charset="0"/>
                <a:cs typeface="Times New Roman" panose="02020603050405020304" pitchFamily="18" charset="0"/>
              </a:rPr>
              <a:t> / SUMMARY </a:t>
            </a:r>
            <a:r>
              <a:rPr kumimoji="0" lang="en-US"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endParaRPr>
          </a:p>
          <a:p>
            <a:pPr lvl="1" algn="just" eaLnBrk="0" hangingPunct="0">
              <a:spcBef>
                <a:spcPct val="0"/>
              </a:spcBef>
              <a:buFont typeface="Wingdings" panose="05000000000000000000" pitchFamily="2" charset="2"/>
              <a:buChar char="§"/>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paper presents a comparative study of various CPU scheduling algorithms such as FCFS, SJF, SRTF, Round Robin and Feedback scheduling. </a:t>
            </a:r>
          </a:p>
          <a:p>
            <a:pPr lvl="1" algn="just" eaLnBrk="0" hangingPunct="0">
              <a:spcBef>
                <a:spcPct val="0"/>
              </a:spcBef>
              <a:buFont typeface="Wingdings" panose="05000000000000000000" pitchFamily="2" charset="2"/>
              <a:buChar char="§"/>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It explains scheduling concepts including preemptive and non-preemptive scheduling and evaluates performance using parameters like waiting time, turnaround time and response time. The study also proposes modified versions of some algorithms to improve performance.</a:t>
            </a:r>
          </a:p>
          <a:p>
            <a:pPr lvl="1" algn="just" eaLnBrk="0" hangingPunct="0">
              <a:spcBef>
                <a:spcPct val="0"/>
              </a:spcBef>
              <a:buFont typeface="Wingdings" panose="05000000000000000000" pitchFamily="2" charset="2"/>
              <a:buChar char="§"/>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work is mainly theoretical and analytical. It does not provide an interactive simulation tool, real-time execution visualization or multicore CPU scheduling support.</a:t>
            </a:r>
          </a:p>
        </p:txBody>
      </p:sp>
    </p:spTree>
    <p:extLst>
      <p:ext uri="{BB962C8B-B14F-4D97-AF65-F5344CB8AC3E}">
        <p14:creationId xmlns:p14="http://schemas.microsoft.com/office/powerpoint/2010/main" val="3720716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D9CB2-40AF-B850-9620-D8C7C69289CD}"/>
              </a:ext>
            </a:extLst>
          </p:cNvPr>
          <p:cNvSpPr>
            <a:spLocks noGrp="1"/>
          </p:cNvSpPr>
          <p:nvPr>
            <p:ph type="title"/>
          </p:nvPr>
        </p:nvSpPr>
        <p:spPr>
          <a:xfrm>
            <a:off x="323528" y="116632"/>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EXISTING SYSTEM</a:t>
            </a:r>
          </a:p>
        </p:txBody>
      </p:sp>
      <p:sp>
        <p:nvSpPr>
          <p:cNvPr id="4" name="Rectangle 1">
            <a:extLst>
              <a:ext uri="{FF2B5EF4-FFF2-40B4-BE49-F238E27FC236}">
                <a16:creationId xmlns:a16="http://schemas.microsoft.com/office/drawing/2014/main" id="{E6FA992D-016A-C506-5C5B-1217BEC9F27D}"/>
              </a:ext>
            </a:extLst>
          </p:cNvPr>
          <p:cNvSpPr>
            <a:spLocks noGrp="1" noChangeArrowheads="1"/>
          </p:cNvSpPr>
          <p:nvPr>
            <p:ph idx="1"/>
          </p:nvPr>
        </p:nvSpPr>
        <p:spPr bwMode="auto">
          <a:xfrm>
            <a:off x="467544" y="1412776"/>
            <a:ext cx="8064896"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Several CPU scheduling simulators are already available.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They implement traditional algorithms such as FCFS, SJF, Round Robin and Priority.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The simulators evaluate performance metrics like waiting time and turnaround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Execution is modeled using a single processor environment.</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Mainly designed for theoretical understanding of operating system concepts.</a:t>
            </a:r>
          </a:p>
        </p:txBody>
      </p:sp>
    </p:spTree>
    <p:extLst>
      <p:ext uri="{BB962C8B-B14F-4D97-AF65-F5344CB8AC3E}">
        <p14:creationId xmlns:p14="http://schemas.microsoft.com/office/powerpoint/2010/main" val="165766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8B28-DF00-8BF3-596B-EE894A101106}"/>
              </a:ext>
            </a:extLst>
          </p:cNvPr>
          <p:cNvSpPr>
            <a:spLocks noGrp="1"/>
          </p:cNvSpPr>
          <p:nvPr>
            <p:ph type="title"/>
          </p:nvPr>
        </p:nvSpPr>
        <p:spPr>
          <a:xfrm>
            <a:off x="467544" y="22860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Limitations of Existing System</a:t>
            </a:r>
          </a:p>
        </p:txBody>
      </p:sp>
      <p:sp>
        <p:nvSpPr>
          <p:cNvPr id="4" name="Rectangle 1">
            <a:extLst>
              <a:ext uri="{FF2B5EF4-FFF2-40B4-BE49-F238E27FC236}">
                <a16:creationId xmlns:a16="http://schemas.microsoft.com/office/drawing/2014/main" id="{94210D79-AACC-8ECA-E9CF-27C1BB20B20A}"/>
              </a:ext>
            </a:extLst>
          </p:cNvPr>
          <p:cNvSpPr>
            <a:spLocks noGrp="1" noChangeArrowheads="1"/>
          </p:cNvSpPr>
          <p:nvPr>
            <p:ph idx="1"/>
          </p:nvPr>
        </p:nvSpPr>
        <p:spPr bwMode="auto">
          <a:xfrm>
            <a:off x="467544" y="1074222"/>
            <a:ext cx="7513525" cy="449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Designed for single-core CPU architecture only.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Cannot simulate parallel execution of processes.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No visualization of process allocation across different CPU cores.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Unable to analyze core-wise CPU utilization.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Limited support for comparative analysis of algorithms in modern systems.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Not suitable for understanding real multicore processor behavior.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Students cannot clearly observe how scheduling works in practical systems.</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Execution results are not stored as datasets (CSV).</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No Machine Learning analysis or prediction of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437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ED3B2-DB0C-4013-24C8-DA36792A0346}"/>
              </a:ext>
            </a:extLst>
          </p:cNvPr>
          <p:cNvSpPr>
            <a:spLocks noGrp="1"/>
          </p:cNvSpPr>
          <p:nvPr>
            <p:ph type="title"/>
          </p:nvPr>
        </p:nvSpPr>
        <p:spPr>
          <a:xfrm>
            <a:off x="323528" y="18864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Research Gap</a:t>
            </a:r>
          </a:p>
        </p:txBody>
      </p:sp>
      <p:sp>
        <p:nvSpPr>
          <p:cNvPr id="4" name="Rectangle 1">
            <a:extLst>
              <a:ext uri="{FF2B5EF4-FFF2-40B4-BE49-F238E27FC236}">
                <a16:creationId xmlns:a16="http://schemas.microsoft.com/office/drawing/2014/main" id="{CBB65926-EDED-3162-57B9-09106F2DB62D}"/>
              </a:ext>
            </a:extLst>
          </p:cNvPr>
          <p:cNvSpPr>
            <a:spLocks noGrp="1" noChangeArrowheads="1"/>
          </p:cNvSpPr>
          <p:nvPr>
            <p:ph idx="1"/>
          </p:nvPr>
        </p:nvSpPr>
        <p:spPr bwMode="auto">
          <a:xfrm>
            <a:off x="323528" y="1305341"/>
            <a:ext cx="743062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Existing simulators focus mainly on single-core processors.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Mostly theoretical analysis only.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No visualization of process distribution across multiple cores.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Cannot clearly observe multicore execution.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No proper educational tool for learning.</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Difficult to compare multiple scheduling algorithms.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Performance metrics cannot be viewed in real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Therefore, a multicore scheduling simulator with visualization and performance comparison is proposed.</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Existing simulators lack multicore visualization and do not use dataset-based (CSV) Machine Learning analysis to evaluate and predict scheduling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2830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38ACA-475E-3B37-40B0-052EC550E9FD}"/>
              </a:ext>
            </a:extLst>
          </p:cNvPr>
          <p:cNvSpPr>
            <a:spLocks noGrp="1"/>
          </p:cNvSpPr>
          <p:nvPr>
            <p:ph type="title"/>
          </p:nvPr>
        </p:nvSpPr>
        <p:spPr>
          <a:xfrm>
            <a:off x="395536" y="224056"/>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Objectives</a:t>
            </a:r>
          </a:p>
        </p:txBody>
      </p:sp>
      <p:sp>
        <p:nvSpPr>
          <p:cNvPr id="4" name="Rectangle 1">
            <a:extLst>
              <a:ext uri="{FF2B5EF4-FFF2-40B4-BE49-F238E27FC236}">
                <a16:creationId xmlns:a16="http://schemas.microsoft.com/office/drawing/2014/main" id="{9355A263-6FBB-5FF3-D826-0AB4B4A0A510}"/>
              </a:ext>
            </a:extLst>
          </p:cNvPr>
          <p:cNvSpPr>
            <a:spLocks noGrp="1" noChangeArrowheads="1"/>
          </p:cNvSpPr>
          <p:nvPr>
            <p:ph idx="1"/>
          </p:nvPr>
        </p:nvSpPr>
        <p:spPr bwMode="auto">
          <a:xfrm>
            <a:off x="420755" y="1124744"/>
            <a:ext cx="8352928" cy="5509200"/>
          </a:xfrm>
          <a:prstGeom prst="rect">
            <a:avLst/>
          </a:prstGeom>
          <a:noFill/>
          <a:ln>
            <a:noFill/>
          </a:ln>
          <a:effectLst/>
          <a:extLst>
            <a:ext uri="{909E8E84-426E-40DD-AFC4-6F175D3DCCD1}">
              <a14:hiddenFill xmlns:a14="http://schemas.microsoft.com/office/drawing/2010/main">
                <a:gradFill rotWithShape="1">
                  <a:gsLst>
                    <a:gs pos="0">
                      <a:schemeClr val="bg1"/>
                    </a:gs>
                    <a:gs pos="100000">
                      <a:schemeClr val="accent1">
                        <a:alpha val="14999"/>
                      </a:schemeClr>
                    </a:gs>
                  </a:gsLst>
                  <a:lin ang="5400000" scaled="1"/>
                </a:gra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1" fontAlgn="base" latinLnBrk="0" hangingPunct="1">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Simulate process scheduling in a multicore environment.</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Implement different scheduling algorithms:</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FCFS</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SJF</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Round Robin</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Priority Scheduling</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Show how processes are assigned to different CPU cores.</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b="1" i="0" u="none" strike="noStrike" cap="none" normalizeH="0" baseline="0" dirty="0">
                <a:ln>
                  <a:noFill/>
                </a:ln>
                <a:solidFill>
                  <a:srgbClr val="0044A8"/>
                </a:solidFill>
                <a:effectLst/>
                <a:latin typeface="Times New Roman" panose="02020603050405020304" pitchFamily="18" charset="0"/>
                <a:cs typeface="Times New Roman" panose="02020603050405020304" pitchFamily="18" charset="0"/>
              </a:rPr>
              <a:t>Calculate performance metrics:</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Waiting Time</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Turnaround Time</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Response Time</a:t>
            </a:r>
          </a:p>
          <a:p>
            <a:pPr marL="857250" lvl="1" indent="-457200" eaLnBrk="0" hangingPunct="0">
              <a:spcBef>
                <a:spcPct val="0"/>
              </a:spcBef>
              <a:buFont typeface="Wingdings" panose="05000000000000000000" pitchFamily="2" charset="2"/>
              <a:buChar char="§"/>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CPU Utilization</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Provide a visual interface for better learning.</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To store execution results in CSV dataset files.</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To apply Machine Learning analysis for performance comparison and prediction.</a:t>
            </a:r>
            <a:endPar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3275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312D8-1FB4-C8CC-E493-61EDD51582B7}"/>
              </a:ext>
            </a:extLst>
          </p:cNvPr>
          <p:cNvSpPr>
            <a:spLocks noGrp="1"/>
          </p:cNvSpPr>
          <p:nvPr>
            <p:ph type="title"/>
          </p:nvPr>
        </p:nvSpPr>
        <p:spPr>
          <a:xfrm>
            <a:off x="251520" y="116632"/>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Proposed System</a:t>
            </a:r>
          </a:p>
        </p:txBody>
      </p:sp>
      <p:sp>
        <p:nvSpPr>
          <p:cNvPr id="7" name="Rectangle 3">
            <a:extLst>
              <a:ext uri="{FF2B5EF4-FFF2-40B4-BE49-F238E27FC236}">
                <a16:creationId xmlns:a16="http://schemas.microsoft.com/office/drawing/2014/main" id="{942A24AA-437B-A3ED-4509-96C4B635D3B0}"/>
              </a:ext>
            </a:extLst>
          </p:cNvPr>
          <p:cNvSpPr>
            <a:spLocks noGrp="1" noChangeArrowheads="1"/>
          </p:cNvSpPr>
          <p:nvPr>
            <p:ph idx="1"/>
          </p:nvPr>
        </p:nvSpPr>
        <p:spPr bwMode="auto">
          <a:xfrm>
            <a:off x="323528" y="1351508"/>
            <a:ext cx="7920879"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User enters process details.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Selects number of CPU cores (2 or 4).</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Chooses scheduling algorithm.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System allocates processes to selected cores.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Processes are executed in the simulator.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Gantt chart is displayed after execution.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Performance metrics are calculated.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tx2">
                    <a:lumMod val="50000"/>
                  </a:schemeClr>
                </a:solidFill>
                <a:effectLst/>
                <a:latin typeface="Times New Roman" panose="02020603050405020304" pitchFamily="18" charset="0"/>
                <a:cs typeface="Times New Roman" panose="02020603050405020304" pitchFamily="18" charset="0"/>
              </a:rPr>
              <a:t>Metrics include waiting time, turnaround time, and CPU utilization.</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system stores scheduling results in CSV files and performs Machine Learning analysis to evaluate and predict scheduling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15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973A0-0CCB-E0BF-9969-77F7521073F4}"/>
              </a:ext>
            </a:extLst>
          </p:cNvPr>
          <p:cNvSpPr>
            <a:spLocks noGrp="1"/>
          </p:cNvSpPr>
          <p:nvPr>
            <p:ph type="title"/>
          </p:nvPr>
        </p:nvSpPr>
        <p:spPr>
          <a:xfrm>
            <a:off x="467544" y="22860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High-Level Flow</a:t>
            </a:r>
          </a:p>
        </p:txBody>
      </p:sp>
      <p:sp>
        <p:nvSpPr>
          <p:cNvPr id="4" name="Rectangle 1">
            <a:extLst>
              <a:ext uri="{FF2B5EF4-FFF2-40B4-BE49-F238E27FC236}">
                <a16:creationId xmlns:a16="http://schemas.microsoft.com/office/drawing/2014/main" id="{18DF0EEE-0D20-86C6-DD10-D5FEF913868F}"/>
              </a:ext>
            </a:extLst>
          </p:cNvPr>
          <p:cNvSpPr>
            <a:spLocks noGrp="1" noChangeArrowheads="1"/>
          </p:cNvSpPr>
          <p:nvPr>
            <p:ph idx="1"/>
          </p:nvPr>
        </p:nvSpPr>
        <p:spPr bwMode="auto">
          <a:xfrm>
            <a:off x="467544" y="1268760"/>
            <a:ext cx="6828280" cy="3139321"/>
          </a:xfrm>
          <a:prstGeom prst="rect">
            <a:avLst/>
          </a:prstGeom>
          <a:noFill/>
          <a:ln>
            <a:noFill/>
          </a:ln>
          <a:effectLst/>
          <a:extLst>
            <a:ext uri="{909E8E84-426E-40DD-AFC4-6F175D3DCCD1}">
              <a14:hiddenFill xmlns:a14="http://schemas.microsoft.com/office/drawing/2010/main">
                <a:gradFill rotWithShape="1">
                  <a:gsLst>
                    <a:gs pos="0">
                      <a:schemeClr val="bg1"/>
                    </a:gs>
                    <a:gs pos="100000">
                      <a:schemeClr val="accent1">
                        <a:alpha val="14999"/>
                      </a:schemeClr>
                    </a:gs>
                  </a:gsLst>
                  <a:lin ang="5400000" scaled="1"/>
                </a:gra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l" defTabSz="914400" rtl="0" eaLnBrk="1" fontAlgn="base" latinLnBrk="0" hangingPunct="1">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User selects number of CPU cores.</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User enters process details.</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User chooses scheduling algorithm.</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System assigns processes to cores.</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Execution simulated step-by-step.</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Gantt chart generated.</a:t>
            </a:r>
          </a:p>
          <a:p>
            <a:pPr marR="0" lvl="0" algn="l" defTabSz="914400" rtl="0" eaLnBrk="0" fontAlgn="base" latinLnBrk="0" hangingPunct="0">
              <a:spcBef>
                <a:spcPct val="0"/>
              </a:spcBef>
              <a:spcAft>
                <a:spcPct val="0"/>
              </a:spcAft>
              <a:buClrTx/>
              <a:buSzTx/>
              <a:buFont typeface="Wingdings" panose="05000000000000000000" pitchFamily="2" charset="2"/>
              <a:buChar char="§"/>
              <a:tabLst/>
            </a:pPr>
            <a:r>
              <a:rPr kumimoji="0" lang="en-IN" altLang="en-US" sz="220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Performance metrics displayed.</a:t>
            </a:r>
          </a:p>
          <a:p>
            <a:pPr lvl="0" eaLnBrk="0" hangingPunct="0">
              <a:spcBef>
                <a:spcPct val="0"/>
              </a:spcBef>
              <a:buFont typeface="Wingdings" panose="05000000000000000000" pitchFamily="2" charset="2"/>
              <a:buChar char="§"/>
            </a:pPr>
            <a:r>
              <a:rPr lang="en-IN" sz="2200" dirty="0">
                <a:solidFill>
                  <a:srgbClr val="000000"/>
                </a:solidFill>
                <a:latin typeface="Times New Roman" panose="02020603050405020304" pitchFamily="18" charset="0"/>
                <a:cs typeface="Times New Roman" panose="02020603050405020304" pitchFamily="18" charset="0"/>
              </a:rPr>
              <a:t>Save results to CSV.</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ML analysis for performance evaluation and prediction.</a:t>
            </a:r>
            <a:endParaRPr kumimoji="0" lang="en-IN" altLang="en-US" sz="220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2308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493AC-002E-82CD-ED16-DCF9AA31BB43}"/>
              </a:ext>
            </a:extLst>
          </p:cNvPr>
          <p:cNvSpPr>
            <a:spLocks noGrp="1"/>
          </p:cNvSpPr>
          <p:nvPr>
            <p:ph type="title"/>
          </p:nvPr>
        </p:nvSpPr>
        <p:spPr>
          <a:xfrm>
            <a:off x="323528" y="548680"/>
            <a:ext cx="7315200" cy="499938"/>
          </a:xfrm>
        </p:spPr>
        <p:txBody>
          <a:bodyPr/>
          <a:lstStyle/>
          <a:p>
            <a:r>
              <a:rPr lang="en-US" altLang="en-US" sz="3600" b="1" dirty="0">
                <a:solidFill>
                  <a:srgbClr val="C00000"/>
                </a:solidFill>
                <a:latin typeface="Times New Roman" panose="02020603050405020304" pitchFamily="18" charset="0"/>
                <a:cs typeface="Times New Roman" panose="02020603050405020304" pitchFamily="18" charset="0"/>
              </a:rPr>
              <a:t>High-Level Architectural Diagram</a:t>
            </a:r>
            <a:br>
              <a:rPr lang="en-US" altLang="en-US" sz="3600" b="1" dirty="0">
                <a:solidFill>
                  <a:srgbClr val="C00000"/>
                </a:solidFill>
                <a:latin typeface="Times New Roman" panose="02020603050405020304" pitchFamily="18" charset="0"/>
                <a:cs typeface="Times New Roman" panose="02020603050405020304" pitchFamily="18" charset="0"/>
              </a:rPr>
            </a:br>
            <a:endParaRPr lang="en-IN" sz="3600" b="1" dirty="0">
              <a:solidFill>
                <a:srgbClr val="C00000"/>
              </a:solidFill>
            </a:endParaRPr>
          </a:p>
        </p:txBody>
      </p:sp>
      <p:pic>
        <p:nvPicPr>
          <p:cNvPr id="8" name="Content Placeholder 7">
            <a:extLst>
              <a:ext uri="{FF2B5EF4-FFF2-40B4-BE49-F238E27FC236}">
                <a16:creationId xmlns:a16="http://schemas.microsoft.com/office/drawing/2014/main" id="{01C4CAFE-CF5C-ABBC-319C-F844E72B9E87}"/>
              </a:ext>
            </a:extLst>
          </p:cNvPr>
          <p:cNvPicPr>
            <a:picLocks noGrp="1" noChangeAspect="1"/>
          </p:cNvPicPr>
          <p:nvPr>
            <p:ph idx="1"/>
          </p:nvPr>
        </p:nvPicPr>
        <p:blipFill rotWithShape="1">
          <a:blip r:embed="rId2"/>
          <a:srcRect r="41443"/>
          <a:stretch>
            <a:fillRect/>
          </a:stretch>
        </p:blipFill>
        <p:spPr>
          <a:xfrm>
            <a:off x="418030" y="1124744"/>
            <a:ext cx="8258426" cy="5544616"/>
          </a:xfrm>
          <a:prstGeom prst="rect">
            <a:avLst/>
          </a:prstGeom>
        </p:spPr>
      </p:pic>
    </p:spTree>
    <p:extLst>
      <p:ext uri="{BB962C8B-B14F-4D97-AF65-F5344CB8AC3E}">
        <p14:creationId xmlns:p14="http://schemas.microsoft.com/office/powerpoint/2010/main" val="3491372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28EFD8-C58A-E495-02DA-FB651A8A5521}"/>
              </a:ext>
            </a:extLst>
          </p:cNvPr>
          <p:cNvSpPr>
            <a:spLocks noGrp="1"/>
          </p:cNvSpPr>
          <p:nvPr>
            <p:ph type="title"/>
          </p:nvPr>
        </p:nvSpPr>
        <p:spPr>
          <a:xfrm>
            <a:off x="179512" y="18864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Methodology</a:t>
            </a:r>
          </a:p>
        </p:txBody>
      </p:sp>
      <p:sp>
        <p:nvSpPr>
          <p:cNvPr id="4" name="Rectangle 1">
            <a:extLst>
              <a:ext uri="{FF2B5EF4-FFF2-40B4-BE49-F238E27FC236}">
                <a16:creationId xmlns:a16="http://schemas.microsoft.com/office/drawing/2014/main" id="{C3D8A021-BDEF-09F7-556A-99C5124A1C30}"/>
              </a:ext>
            </a:extLst>
          </p:cNvPr>
          <p:cNvSpPr>
            <a:spLocks noGrp="1" noChangeArrowheads="1"/>
          </p:cNvSpPr>
          <p:nvPr>
            <p:ph idx="1"/>
          </p:nvPr>
        </p:nvSpPr>
        <p:spPr bwMode="auto">
          <a:xfrm>
            <a:off x="467544" y="1340768"/>
            <a:ext cx="7802578"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User enters process details.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Selects scheduling algorithm.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Processes are allocated to available CPU cores.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Simulation is executed.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Gantt chart is generated to visualize execution.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Performance metrics are calculated.</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Metrics include waiting time, turnaround time, and CPU utilization.</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Execution results are stored in a CSV dataset file.</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The ML analysis module applies Machine Learning to analyze and predict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4621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7708F-6B23-6E92-CA6A-32932FC5D456}"/>
              </a:ext>
            </a:extLst>
          </p:cNvPr>
          <p:cNvSpPr>
            <a:spLocks noGrp="1"/>
          </p:cNvSpPr>
          <p:nvPr>
            <p:ph type="title"/>
          </p:nvPr>
        </p:nvSpPr>
        <p:spPr>
          <a:xfrm>
            <a:off x="467544" y="22860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Modules</a:t>
            </a:r>
          </a:p>
        </p:txBody>
      </p:sp>
      <p:sp>
        <p:nvSpPr>
          <p:cNvPr id="3" name="Content Placeholder 2">
            <a:extLst>
              <a:ext uri="{FF2B5EF4-FFF2-40B4-BE49-F238E27FC236}">
                <a16:creationId xmlns:a16="http://schemas.microsoft.com/office/drawing/2014/main" id="{A86251CF-172A-569F-F4A7-7A58325AFF0A}"/>
              </a:ext>
            </a:extLst>
          </p:cNvPr>
          <p:cNvSpPr>
            <a:spLocks noGrp="1"/>
          </p:cNvSpPr>
          <p:nvPr>
            <p:ph idx="1"/>
          </p:nvPr>
        </p:nvSpPr>
        <p:spPr>
          <a:xfrm>
            <a:off x="539552" y="1333500"/>
            <a:ext cx="7315200" cy="5119836"/>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1: Process Creation Module</a:t>
            </a:r>
          </a:p>
          <a:p>
            <a:pPr>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User enters:</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Process ID</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Arrival Time</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Burst Time</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Priority</a:t>
            </a:r>
          </a:p>
          <a:p>
            <a:pPr lvl="1">
              <a:buFont typeface="Wingdings" panose="05000000000000000000" pitchFamily="2" charset="2"/>
              <a:buChar char="§"/>
            </a:pPr>
            <a:endParaRPr lang="en-US" sz="1500" dirty="0">
              <a:solidFill>
                <a:schemeClr val="accent4">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2: Multicore Scheduler</a:t>
            </a:r>
          </a:p>
          <a:p>
            <a:pPr>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Simulates 2 or 4 CPU cores.</a:t>
            </a:r>
          </a:p>
          <a:p>
            <a:pPr>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Assigns processes to cores based on selected scheduling algorithm.</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695201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D7DE-0615-6A9C-2752-849385E861F4}"/>
              </a:ext>
            </a:extLst>
          </p:cNvPr>
          <p:cNvSpPr>
            <a:spLocks noGrp="1"/>
          </p:cNvSpPr>
          <p:nvPr>
            <p:ph type="title"/>
          </p:nvPr>
        </p:nvSpPr>
        <p:spPr>
          <a:xfrm>
            <a:off x="539552" y="116632"/>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Modules</a:t>
            </a:r>
            <a:endParaRPr lang="en-IN" sz="3600" dirty="0"/>
          </a:p>
        </p:txBody>
      </p:sp>
      <p:sp>
        <p:nvSpPr>
          <p:cNvPr id="3" name="Content Placeholder 2">
            <a:extLst>
              <a:ext uri="{FF2B5EF4-FFF2-40B4-BE49-F238E27FC236}">
                <a16:creationId xmlns:a16="http://schemas.microsoft.com/office/drawing/2014/main" id="{8BBCF541-5AED-55E1-9EB2-B63ADF5B1A2A}"/>
              </a:ext>
            </a:extLst>
          </p:cNvPr>
          <p:cNvSpPr>
            <a:spLocks noGrp="1"/>
          </p:cNvSpPr>
          <p:nvPr>
            <p:ph idx="1"/>
          </p:nvPr>
        </p:nvSpPr>
        <p:spPr>
          <a:xfrm>
            <a:off x="251520" y="1196752"/>
            <a:ext cx="5256584" cy="5112568"/>
          </a:xfrm>
        </p:spPr>
        <p:txBody>
          <a:bodyPr/>
          <a:lstStyle/>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3: Scheduling Algorithms Engine</a:t>
            </a:r>
          </a:p>
          <a:p>
            <a:pPr>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Implements:</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FCFS</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SJF (Non-preemptive)</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Round Robin (with time quantum)</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Priority Scheduling</a:t>
            </a:r>
          </a:p>
          <a:p>
            <a:pPr lvl="1">
              <a:buFont typeface="Wingdings" panose="05000000000000000000" pitchFamily="2" charset="2"/>
              <a:buChar char="§"/>
            </a:pPr>
            <a:endParaRPr lang="en-US" sz="1500" dirty="0">
              <a:solidFill>
                <a:schemeClr val="accent4">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4: Performance Calculator</a:t>
            </a:r>
          </a:p>
          <a:p>
            <a:pPr>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Computes:</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Average Waiting Time</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Average Turnaround Time</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Throughput</a:t>
            </a:r>
          </a:p>
          <a:p>
            <a:pPr lvl="1">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CPU Utilization</a:t>
            </a:r>
          </a:p>
          <a:p>
            <a:pPr lvl="1">
              <a:buFont typeface="Wingdings" panose="05000000000000000000" pitchFamily="2" charset="2"/>
              <a:buChar char="§"/>
            </a:pPr>
            <a:endParaRPr lang="en-US" sz="2200" dirty="0">
              <a:solidFill>
                <a:schemeClr val="accent4">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200"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B783D05-218E-3804-A627-0F0922E8BCD5}"/>
              </a:ext>
            </a:extLst>
          </p:cNvPr>
          <p:cNvSpPr txBox="1"/>
          <p:nvPr/>
        </p:nvSpPr>
        <p:spPr>
          <a:xfrm>
            <a:off x="5535552" y="1196752"/>
            <a:ext cx="3356928" cy="5539978"/>
          </a:xfrm>
          <a:prstGeom prst="rect">
            <a:avLst/>
          </a:prstGeom>
          <a:noFill/>
        </p:spPr>
        <p:txBody>
          <a:bodyPr wrap="square" rtlCol="0">
            <a:spAutoFit/>
          </a:bodyPr>
          <a:lstStyle/>
          <a:p>
            <a:pPr marL="342900" indent="-342900" algn="l">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5:Visualization </a:t>
            </a:r>
          </a:p>
          <a:p>
            <a:pPr marL="342900" indent="-342900" algn="l">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Gantt Chart for each core.</a:t>
            </a:r>
          </a:p>
          <a:p>
            <a:pPr marL="342900" indent="-342900" algn="l">
              <a:buFont typeface="Wingdings" panose="05000000000000000000" pitchFamily="2" charset="2"/>
              <a:buChar char="§"/>
            </a:pPr>
            <a:r>
              <a:rPr lang="en-US" sz="2200" dirty="0">
                <a:solidFill>
                  <a:schemeClr val="accent4">
                    <a:lumMod val="50000"/>
                  </a:schemeClr>
                </a:solidFill>
                <a:latin typeface="Times New Roman" panose="02020603050405020304" pitchFamily="18" charset="0"/>
                <a:cs typeface="Times New Roman" panose="02020603050405020304" pitchFamily="18" charset="0"/>
              </a:rPr>
              <a:t>Process execution timeline.</a:t>
            </a:r>
          </a:p>
          <a:p>
            <a:pPr algn="l"/>
            <a:endParaRPr lang="en-US" sz="2200" dirty="0">
              <a:solidFill>
                <a:schemeClr val="accent4">
                  <a:lumMod val="50000"/>
                </a:schemeClr>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6: CSV Storage </a:t>
            </a:r>
          </a:p>
          <a:p>
            <a:pPr marL="342900" indent="-342900" algn="l">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Saves execution results as a dataset in a CSV file.</a:t>
            </a:r>
          </a:p>
          <a:p>
            <a:pPr algn="l"/>
            <a:endParaRPr lang="en-US" sz="2200" dirty="0">
              <a:solidFill>
                <a:srgbClr val="000000"/>
              </a:solidFill>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
            </a:pPr>
            <a:r>
              <a:rPr lang="en-US" sz="2200" b="1" dirty="0">
                <a:solidFill>
                  <a:srgbClr val="0044A8"/>
                </a:solidFill>
                <a:latin typeface="Times New Roman" panose="02020603050405020304" pitchFamily="18" charset="0"/>
                <a:cs typeface="Times New Roman" panose="02020603050405020304" pitchFamily="18" charset="0"/>
              </a:rPr>
              <a:t>Module 7: ML Analysis </a:t>
            </a:r>
          </a:p>
          <a:p>
            <a:pPr marL="342900" indent="-342900" algn="l">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Analyzes scheduling performance and provides prediction</a:t>
            </a:r>
          </a:p>
          <a:p>
            <a:pPr marL="342900" indent="-342900">
              <a:buFont typeface="Wingdings" panose="05000000000000000000" pitchFamily="2" charset="2"/>
              <a:buChar char="§"/>
            </a:pPr>
            <a:endParaRPr lang="en-IN" dirty="0"/>
          </a:p>
        </p:txBody>
      </p:sp>
    </p:spTree>
    <p:extLst>
      <p:ext uri="{BB962C8B-B14F-4D97-AF65-F5344CB8AC3E}">
        <p14:creationId xmlns:p14="http://schemas.microsoft.com/office/powerpoint/2010/main" val="4193654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48BC-5D4C-713E-5049-E4154CACE5C9}"/>
              </a:ext>
            </a:extLst>
          </p:cNvPr>
          <p:cNvSpPr>
            <a:spLocks noGrp="1"/>
          </p:cNvSpPr>
          <p:nvPr>
            <p:ph type="title"/>
          </p:nvPr>
        </p:nvSpPr>
        <p:spPr>
          <a:xfrm>
            <a:off x="251520" y="22860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Tools &amp; Platform</a:t>
            </a:r>
          </a:p>
        </p:txBody>
      </p:sp>
      <p:graphicFrame>
        <p:nvGraphicFramePr>
          <p:cNvPr id="7" name="Content Placeholder 6">
            <a:extLst>
              <a:ext uri="{FF2B5EF4-FFF2-40B4-BE49-F238E27FC236}">
                <a16:creationId xmlns:a16="http://schemas.microsoft.com/office/drawing/2014/main" id="{38992D85-7206-5F23-90FD-0226DA56803D}"/>
              </a:ext>
            </a:extLst>
          </p:cNvPr>
          <p:cNvGraphicFramePr>
            <a:graphicFrameLocks noGrp="1"/>
          </p:cNvGraphicFramePr>
          <p:nvPr>
            <p:ph idx="1"/>
            <p:extLst>
              <p:ext uri="{D42A27DB-BD31-4B8C-83A1-F6EECF244321}">
                <p14:modId xmlns:p14="http://schemas.microsoft.com/office/powerpoint/2010/main" val="2150517314"/>
              </p:ext>
            </p:extLst>
          </p:nvPr>
        </p:nvGraphicFramePr>
        <p:xfrm>
          <a:off x="467544" y="1268760"/>
          <a:ext cx="7848873" cy="5239688"/>
        </p:xfrm>
        <a:graphic>
          <a:graphicData uri="http://schemas.openxmlformats.org/drawingml/2006/table">
            <a:tbl>
              <a:tblPr>
                <a:tableStyleId>{08FB837D-C827-4EFA-A057-4D05807E0F7C}</a:tableStyleId>
              </a:tblPr>
              <a:tblGrid>
                <a:gridCol w="2643131">
                  <a:extLst>
                    <a:ext uri="{9D8B030D-6E8A-4147-A177-3AD203B41FA5}">
                      <a16:colId xmlns:a16="http://schemas.microsoft.com/office/drawing/2014/main" val="1135060274"/>
                    </a:ext>
                  </a:extLst>
                </a:gridCol>
                <a:gridCol w="2602871">
                  <a:extLst>
                    <a:ext uri="{9D8B030D-6E8A-4147-A177-3AD203B41FA5}">
                      <a16:colId xmlns:a16="http://schemas.microsoft.com/office/drawing/2014/main" val="2181719899"/>
                    </a:ext>
                  </a:extLst>
                </a:gridCol>
                <a:gridCol w="2602871">
                  <a:extLst>
                    <a:ext uri="{9D8B030D-6E8A-4147-A177-3AD203B41FA5}">
                      <a16:colId xmlns:a16="http://schemas.microsoft.com/office/drawing/2014/main" val="1681320367"/>
                    </a:ext>
                  </a:extLst>
                </a:gridCol>
              </a:tblGrid>
              <a:tr h="324113">
                <a:tc>
                  <a:txBody>
                    <a:bodyPr/>
                    <a:lstStyle/>
                    <a:p>
                      <a:pPr>
                        <a:buNone/>
                      </a:pPr>
                      <a:r>
                        <a:rPr lang="en-IN" sz="2000" b="1" dirty="0">
                          <a:solidFill>
                            <a:srgbClr val="0044A8"/>
                          </a:solidFill>
                          <a:latin typeface="Times New Roman" panose="02020603050405020304" pitchFamily="18" charset="0"/>
                          <a:cs typeface="Times New Roman" panose="02020603050405020304" pitchFamily="18" charset="0"/>
                        </a:rPr>
                        <a:t>Category</a:t>
                      </a:r>
                    </a:p>
                  </a:txBody>
                  <a:tcPr marL="77611" marR="77611" marT="38806" marB="38806" anchor="ctr">
                    <a:solidFill>
                      <a:schemeClr val="accent5">
                        <a:lumMod val="75000"/>
                      </a:schemeClr>
                    </a:solidFill>
                  </a:tcPr>
                </a:tc>
                <a:tc>
                  <a:txBody>
                    <a:bodyPr/>
                    <a:lstStyle/>
                    <a:p>
                      <a:pPr>
                        <a:buNone/>
                      </a:pPr>
                      <a:r>
                        <a:rPr lang="en-IN" sz="2000" b="1" dirty="0">
                          <a:solidFill>
                            <a:srgbClr val="0044A8"/>
                          </a:solidFill>
                          <a:latin typeface="Times New Roman" panose="02020603050405020304" pitchFamily="18" charset="0"/>
                          <a:cs typeface="Times New Roman" panose="02020603050405020304" pitchFamily="18" charset="0"/>
                        </a:rPr>
                        <a:t>Tool </a:t>
                      </a:r>
                    </a:p>
                  </a:txBody>
                  <a:tcPr marL="77611" marR="77611" marT="38806" marB="38806" anchor="ctr">
                    <a:solidFill>
                      <a:schemeClr val="accent5">
                        <a:lumMod val="75000"/>
                      </a:schemeClr>
                    </a:solidFill>
                  </a:tcPr>
                </a:tc>
                <a:tc>
                  <a:txBody>
                    <a:bodyPr/>
                    <a:lstStyle/>
                    <a:p>
                      <a:pPr>
                        <a:buNone/>
                      </a:pPr>
                      <a:r>
                        <a:rPr lang="en-IN" sz="2000" b="1" dirty="0">
                          <a:solidFill>
                            <a:srgbClr val="0044A8"/>
                          </a:solidFill>
                          <a:latin typeface="Times New Roman" panose="02020603050405020304" pitchFamily="18" charset="0"/>
                          <a:cs typeface="Times New Roman" panose="02020603050405020304" pitchFamily="18" charset="0"/>
                        </a:rPr>
                        <a:t>Purpose in Project</a:t>
                      </a:r>
                    </a:p>
                  </a:txBody>
                  <a:tcPr marL="77611" marR="77611" marT="38806" marB="38806" anchor="ctr">
                    <a:solidFill>
                      <a:schemeClr val="accent5">
                        <a:lumMod val="75000"/>
                      </a:schemeClr>
                    </a:solidFill>
                  </a:tcPr>
                </a:tc>
                <a:extLst>
                  <a:ext uri="{0D108BD9-81ED-4DB2-BD59-A6C34878D82A}">
                    <a16:rowId xmlns:a16="http://schemas.microsoft.com/office/drawing/2014/main" val="2043297270"/>
                  </a:ext>
                </a:extLst>
              </a:tr>
              <a:tr h="530780">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Programming Language</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Python</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Core logic implementation</a:t>
                      </a:r>
                    </a:p>
                  </a:txBody>
                  <a:tcPr marL="77611" marR="77611" marT="38806" marB="38806" anchor="ctr"/>
                </a:tc>
                <a:extLst>
                  <a:ext uri="{0D108BD9-81ED-4DB2-BD59-A6C34878D82A}">
                    <a16:rowId xmlns:a16="http://schemas.microsoft.com/office/drawing/2014/main" val="2504633211"/>
                  </a:ext>
                </a:extLst>
              </a:tr>
              <a:tr h="530780">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GUI </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Tkinter </a:t>
                      </a:r>
                    </a:p>
                  </a:txBody>
                  <a:tcPr marL="77611" marR="77611" marT="38806" marB="38806" anchor="ctr"/>
                </a:tc>
                <a:tc>
                  <a:txBody>
                    <a:bodyPr/>
                    <a:lstStyle/>
                    <a:p>
                      <a:pPr>
                        <a:buNone/>
                      </a:pPr>
                      <a:r>
                        <a:rPr lang="en-US" sz="1800" b="0" dirty="0">
                          <a:solidFill>
                            <a:schemeClr val="accent4">
                              <a:lumMod val="50000"/>
                            </a:schemeClr>
                          </a:solidFill>
                          <a:latin typeface="Times New Roman" panose="02020603050405020304" pitchFamily="18" charset="0"/>
                          <a:cs typeface="Times New Roman" panose="02020603050405020304" pitchFamily="18" charset="0"/>
                        </a:rPr>
                        <a:t>User interface for input &amp; visualization</a:t>
                      </a:r>
                    </a:p>
                  </a:txBody>
                  <a:tcPr marL="77611" marR="77611" marT="38806" marB="38806" anchor="ctr"/>
                </a:tc>
                <a:extLst>
                  <a:ext uri="{0D108BD9-81ED-4DB2-BD59-A6C34878D82A}">
                    <a16:rowId xmlns:a16="http://schemas.microsoft.com/office/drawing/2014/main" val="1894342524"/>
                  </a:ext>
                </a:extLst>
              </a:tr>
              <a:tr h="530780">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Scheduling Logic</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Python Data Structures</a:t>
                      </a:r>
                    </a:p>
                  </a:txBody>
                  <a:tcPr marL="77611" marR="77611" marT="38806" marB="38806" anchor="ctr"/>
                </a:tc>
                <a:tc>
                  <a:txBody>
                    <a:bodyPr/>
                    <a:lstStyle/>
                    <a:p>
                      <a:pPr>
                        <a:buNone/>
                      </a:pPr>
                      <a:r>
                        <a:rPr lang="en-US" sz="1800" b="0" dirty="0">
                          <a:solidFill>
                            <a:schemeClr val="accent4">
                              <a:lumMod val="50000"/>
                            </a:schemeClr>
                          </a:solidFill>
                          <a:latin typeface="Times New Roman" panose="02020603050405020304" pitchFamily="18" charset="0"/>
                          <a:cs typeface="Times New Roman" panose="02020603050405020304" pitchFamily="18" charset="0"/>
                        </a:rPr>
                        <a:t>Queue, Lists for process scheduling</a:t>
                      </a:r>
                    </a:p>
                  </a:txBody>
                  <a:tcPr marL="77611" marR="77611" marT="38806" marB="38806" anchor="ctr"/>
                </a:tc>
                <a:extLst>
                  <a:ext uri="{0D108BD9-81ED-4DB2-BD59-A6C34878D82A}">
                    <a16:rowId xmlns:a16="http://schemas.microsoft.com/office/drawing/2014/main" val="1318582197"/>
                  </a:ext>
                </a:extLst>
              </a:tr>
              <a:tr h="458028">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Data Storage</a:t>
                      </a:r>
                    </a:p>
                  </a:txBody>
                  <a:tcPr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CSV</a:t>
                      </a:r>
                      <a:endParaRPr lang="en-IN"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Store results dataset</a:t>
                      </a:r>
                      <a:endParaRPr lang="en-US"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extLst>
                  <a:ext uri="{0D108BD9-81ED-4DB2-BD59-A6C34878D82A}">
                    <a16:rowId xmlns:a16="http://schemas.microsoft.com/office/drawing/2014/main" val="3424538059"/>
                  </a:ext>
                </a:extLst>
              </a:tr>
              <a:tr h="458028">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Data Processing</a:t>
                      </a:r>
                      <a:endParaRPr lang="en-IN"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Pandas</a:t>
                      </a:r>
                      <a:endParaRPr lang="en-IN"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Handle scheduling data</a:t>
                      </a:r>
                      <a:endParaRPr lang="en-US"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extLst>
                  <a:ext uri="{0D108BD9-81ED-4DB2-BD59-A6C34878D82A}">
                    <a16:rowId xmlns:a16="http://schemas.microsoft.com/office/drawing/2014/main" val="3409961057"/>
                  </a:ext>
                </a:extLst>
              </a:tr>
              <a:tr h="530780">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Machine Learning</a:t>
                      </a:r>
                      <a:endParaRPr lang="en-IN"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Scikit-learn</a:t>
                      </a:r>
                    </a:p>
                  </a:txBody>
                  <a:tcPr anchor="ctr"/>
                </a:tc>
                <a:tc>
                  <a:txBody>
                    <a:bodyPr/>
                    <a:lstStyle/>
                    <a:p>
                      <a:pPr>
                        <a:buNone/>
                      </a:pPr>
                      <a:r>
                        <a:rPr lang="en-IN" dirty="0">
                          <a:solidFill>
                            <a:srgbClr val="000000"/>
                          </a:solidFill>
                          <a:latin typeface="Times New Roman" panose="02020603050405020304" pitchFamily="18" charset="0"/>
                          <a:cs typeface="Times New Roman" panose="02020603050405020304" pitchFamily="18" charset="0"/>
                        </a:rPr>
                        <a:t>Performance analysis &amp; prediction</a:t>
                      </a:r>
                      <a:endParaRPr lang="en-US" sz="1800" b="0" dirty="0">
                        <a:solidFill>
                          <a:srgbClr val="000000"/>
                        </a:solidFill>
                        <a:latin typeface="Times New Roman" panose="02020603050405020304" pitchFamily="18" charset="0"/>
                        <a:cs typeface="Times New Roman" panose="02020603050405020304" pitchFamily="18" charset="0"/>
                      </a:endParaRPr>
                    </a:p>
                  </a:txBody>
                  <a:tcPr marL="77611" marR="77611" marT="38806" marB="38806" anchor="ctr"/>
                </a:tc>
                <a:extLst>
                  <a:ext uri="{0D108BD9-81ED-4DB2-BD59-A6C34878D82A}">
                    <a16:rowId xmlns:a16="http://schemas.microsoft.com/office/drawing/2014/main" val="1946434022"/>
                  </a:ext>
                </a:extLst>
              </a:tr>
              <a:tr h="530780">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Visualization</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Matplotlib</a:t>
                      </a:r>
                    </a:p>
                  </a:txBody>
                  <a:tcPr marL="77611" marR="77611" marT="38806" marB="38806" anchor="ctr"/>
                </a:tc>
                <a:tc>
                  <a:txBody>
                    <a:bodyPr/>
                    <a:lstStyle/>
                    <a:p>
                      <a:pPr>
                        <a:buNone/>
                      </a:pPr>
                      <a:r>
                        <a:rPr lang="en-US" sz="1800" b="0" dirty="0">
                          <a:solidFill>
                            <a:schemeClr val="accent4">
                              <a:lumMod val="50000"/>
                            </a:schemeClr>
                          </a:solidFill>
                          <a:latin typeface="Times New Roman" panose="02020603050405020304" pitchFamily="18" charset="0"/>
                          <a:cs typeface="Times New Roman" panose="02020603050405020304" pitchFamily="18" charset="0"/>
                        </a:rPr>
                        <a:t>Gantt chart display for CPU cores</a:t>
                      </a:r>
                    </a:p>
                  </a:txBody>
                  <a:tcPr marL="77611" marR="77611" marT="38806" marB="38806" anchor="ctr"/>
                </a:tc>
                <a:extLst>
                  <a:ext uri="{0D108BD9-81ED-4DB2-BD59-A6C34878D82A}">
                    <a16:rowId xmlns:a16="http://schemas.microsoft.com/office/drawing/2014/main" val="4203065355"/>
                  </a:ext>
                </a:extLst>
              </a:tr>
              <a:tr h="458028">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Development Environment</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VS Code </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Coding and debugging</a:t>
                      </a:r>
                    </a:p>
                  </a:txBody>
                  <a:tcPr marL="77611" marR="77611" marT="38806" marB="38806" anchor="ctr"/>
                </a:tc>
                <a:extLst>
                  <a:ext uri="{0D108BD9-81ED-4DB2-BD59-A6C34878D82A}">
                    <a16:rowId xmlns:a16="http://schemas.microsoft.com/office/drawing/2014/main" val="35365844"/>
                  </a:ext>
                </a:extLst>
              </a:tr>
              <a:tr h="298280">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Platform</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Windows </a:t>
                      </a:r>
                    </a:p>
                  </a:txBody>
                  <a:tcPr marL="77611" marR="77611" marT="38806" marB="38806" anchor="ctr"/>
                </a:tc>
                <a:tc>
                  <a:txBody>
                    <a:bodyPr/>
                    <a:lstStyle/>
                    <a:p>
                      <a:pPr>
                        <a:buNone/>
                      </a:pPr>
                      <a:r>
                        <a:rPr lang="en-IN" sz="1800" b="0" dirty="0">
                          <a:solidFill>
                            <a:schemeClr val="accent4">
                              <a:lumMod val="50000"/>
                            </a:schemeClr>
                          </a:solidFill>
                          <a:latin typeface="Times New Roman" panose="02020603050405020304" pitchFamily="18" charset="0"/>
                          <a:cs typeface="Times New Roman" panose="02020603050405020304" pitchFamily="18" charset="0"/>
                        </a:rPr>
                        <a:t>Running the simulator</a:t>
                      </a:r>
                    </a:p>
                  </a:txBody>
                  <a:tcPr marL="77611" marR="77611" marT="38806" marB="38806" anchor="ctr"/>
                </a:tc>
                <a:extLst>
                  <a:ext uri="{0D108BD9-81ED-4DB2-BD59-A6C34878D82A}">
                    <a16:rowId xmlns:a16="http://schemas.microsoft.com/office/drawing/2014/main" val="909977561"/>
                  </a:ext>
                </a:extLst>
              </a:tr>
            </a:tbl>
          </a:graphicData>
        </a:graphic>
      </p:graphicFrame>
    </p:spTree>
    <p:extLst>
      <p:ext uri="{BB962C8B-B14F-4D97-AF65-F5344CB8AC3E}">
        <p14:creationId xmlns:p14="http://schemas.microsoft.com/office/powerpoint/2010/main" val="3286900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22D13-D0AF-7698-F9CE-DAE4383FFEED}"/>
              </a:ext>
            </a:extLst>
          </p:cNvPr>
          <p:cNvSpPr>
            <a:spLocks noGrp="1"/>
          </p:cNvSpPr>
          <p:nvPr>
            <p:ph type="title"/>
          </p:nvPr>
        </p:nvSpPr>
        <p:spPr>
          <a:xfrm>
            <a:off x="323528" y="188640"/>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Expected Output</a:t>
            </a:r>
          </a:p>
        </p:txBody>
      </p:sp>
      <p:sp>
        <p:nvSpPr>
          <p:cNvPr id="4" name="Rectangle 1">
            <a:extLst>
              <a:ext uri="{FF2B5EF4-FFF2-40B4-BE49-F238E27FC236}">
                <a16:creationId xmlns:a16="http://schemas.microsoft.com/office/drawing/2014/main" id="{D9D0D054-D9C8-2FAC-BC94-DFB858944E87}"/>
              </a:ext>
            </a:extLst>
          </p:cNvPr>
          <p:cNvSpPr>
            <a:spLocks noGrp="1" noChangeArrowheads="1"/>
          </p:cNvSpPr>
          <p:nvPr>
            <p:ph idx="1"/>
          </p:nvPr>
        </p:nvSpPr>
        <p:spPr bwMode="auto">
          <a:xfrm>
            <a:off x="347962" y="1438037"/>
            <a:ext cx="7032349"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Provides multicore execution visualization.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Displays Gantt chart for each CPU core.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Calculates waiting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Calculates turnaround time.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Calculates CPU utilization.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Enables comparison of different scheduling algorithms.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Helps analyze algorithm performance effectively.</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Automatic saving of execution results in CSV dataset files.</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Machine Learning analysis showing performance evaluation and prediction of scheduling behavior.</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4045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3BC05-925F-B059-2A84-CA6DB4447D95}"/>
              </a:ext>
            </a:extLst>
          </p:cNvPr>
          <p:cNvSpPr>
            <a:spLocks noGrp="1"/>
          </p:cNvSpPr>
          <p:nvPr>
            <p:ph type="title"/>
          </p:nvPr>
        </p:nvSpPr>
        <p:spPr>
          <a:xfrm>
            <a:off x="611560" y="476672"/>
            <a:ext cx="7315200" cy="28803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12-Week Project Plan</a:t>
            </a:r>
          </a:p>
        </p:txBody>
      </p:sp>
      <p:sp>
        <p:nvSpPr>
          <p:cNvPr id="3" name="Content Placeholder 2">
            <a:extLst>
              <a:ext uri="{FF2B5EF4-FFF2-40B4-BE49-F238E27FC236}">
                <a16:creationId xmlns:a16="http://schemas.microsoft.com/office/drawing/2014/main" id="{58852353-59BD-0677-CDB6-AA00CE32890A}"/>
              </a:ext>
            </a:extLst>
          </p:cNvPr>
          <p:cNvSpPr>
            <a:spLocks noGrp="1"/>
          </p:cNvSpPr>
          <p:nvPr>
            <p:ph idx="1"/>
          </p:nvPr>
        </p:nvSpPr>
        <p:spPr>
          <a:xfrm>
            <a:off x="417828" y="1340768"/>
            <a:ext cx="8308344" cy="5400600"/>
          </a:xfrm>
        </p:spPr>
        <p:txBody>
          <a:bodyPr/>
          <a:lstStyle/>
          <a:p>
            <a:pPr marL="0" indent="0">
              <a:buNone/>
            </a:pPr>
            <a:r>
              <a:rPr lang="en-IN" sz="2200" b="1" dirty="0">
                <a:solidFill>
                  <a:srgbClr val="0044A8"/>
                </a:solidFill>
                <a:latin typeface="Times New Roman" panose="02020603050405020304" pitchFamily="18" charset="0"/>
                <a:cs typeface="Times New Roman" panose="02020603050405020304" pitchFamily="18" charset="0"/>
              </a:rPr>
              <a:t>Week 1–2:</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Topic selection, guide discussion, and research paper collection.</a:t>
            </a:r>
            <a:br>
              <a:rPr lang="en-IN" sz="2200" dirty="0">
                <a:solidFill>
                  <a:srgbClr val="000000"/>
                </a:solidFill>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3–4:</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Literature survey, research gap and problem statement identification.</a:t>
            </a:r>
            <a:br>
              <a:rPr lang="en-IN" sz="2200" dirty="0">
                <a:solidFill>
                  <a:srgbClr val="000000"/>
                </a:solidFill>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5–6:</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System design, architecture diagram, and tool selection (Python, </a:t>
            </a:r>
            <a:r>
              <a:rPr lang="en-IN" sz="2200" dirty="0" err="1">
                <a:solidFill>
                  <a:srgbClr val="000000"/>
                </a:solidFill>
                <a:latin typeface="Times New Roman" panose="02020603050405020304" pitchFamily="18" charset="0"/>
                <a:cs typeface="Times New Roman" panose="02020603050405020304" pitchFamily="18" charset="0"/>
              </a:rPr>
              <a:t>Tkinter</a:t>
            </a:r>
            <a:r>
              <a:rPr lang="en-IN" sz="2200" dirty="0">
                <a:solidFill>
                  <a:srgbClr val="000000"/>
                </a:solidFill>
                <a:latin typeface="Times New Roman" panose="02020603050405020304" pitchFamily="18" charset="0"/>
                <a:cs typeface="Times New Roman" panose="02020603050405020304" pitchFamily="18" charset="0"/>
              </a:rPr>
              <a:t>, Matplotlib).</a:t>
            </a:r>
            <a:br>
              <a:rPr lang="en-IN" sz="2200" dirty="0">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7–8:</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GUI development and implementation of FCFS, SJF, Priority &amp; Round Robin algorithms.</a:t>
            </a:r>
            <a:br>
              <a:rPr lang="en-IN" sz="2200" dirty="0">
                <a:solidFill>
                  <a:srgbClr val="000000"/>
                </a:solidFill>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9:</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Multicore process allocation and performance metrics calculation (WT, TAT, CPU Utilization).</a:t>
            </a:r>
          </a:p>
          <a:p>
            <a:pPr marL="0" indent="0">
              <a:buNone/>
            </a:pPr>
            <a:r>
              <a:rPr lang="en-IN" sz="2200" b="1" dirty="0">
                <a:solidFill>
                  <a:srgbClr val="0044A8"/>
                </a:solidFill>
                <a:latin typeface="Times New Roman" panose="02020603050405020304" pitchFamily="18" charset="0"/>
                <a:cs typeface="Times New Roman" panose="02020603050405020304" pitchFamily="18" charset="0"/>
              </a:rPr>
              <a:t>Week 10:</a:t>
            </a:r>
            <a:r>
              <a:rPr lang="en-US" sz="2200" dirty="0">
                <a:solidFill>
                  <a:srgbClr val="000000"/>
                </a:solidFill>
                <a:latin typeface="Times New Roman" panose="02020603050405020304" pitchFamily="18" charset="0"/>
                <a:cs typeface="Times New Roman" panose="02020603050405020304" pitchFamily="18" charset="0"/>
              </a:rPr>
              <a:t>CSV result storage and ML analysis module implementation.</a:t>
            </a:r>
            <a:br>
              <a:rPr lang="en-IN" sz="2200" dirty="0">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11:</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Gantt chart generation and execution visualization.</a:t>
            </a:r>
            <a:br>
              <a:rPr lang="en-IN" sz="2200" dirty="0">
                <a:solidFill>
                  <a:srgbClr val="000000"/>
                </a:solidFill>
                <a:latin typeface="Times New Roman" panose="02020603050405020304" pitchFamily="18" charset="0"/>
                <a:cs typeface="Times New Roman" panose="02020603050405020304" pitchFamily="18" charset="0"/>
              </a:rPr>
            </a:br>
            <a:r>
              <a:rPr lang="en-IN" sz="2200" b="1" dirty="0">
                <a:solidFill>
                  <a:srgbClr val="0044A8"/>
                </a:solidFill>
                <a:latin typeface="Times New Roman" panose="02020603050405020304" pitchFamily="18" charset="0"/>
                <a:cs typeface="Times New Roman" panose="02020603050405020304" pitchFamily="18" charset="0"/>
              </a:rPr>
              <a:t>Week 12:</a:t>
            </a:r>
            <a:r>
              <a:rPr lang="en-IN" sz="2200" dirty="0">
                <a:solidFill>
                  <a:srgbClr val="0044A8"/>
                </a:solidFill>
                <a:latin typeface="Times New Roman" panose="02020603050405020304" pitchFamily="18" charset="0"/>
                <a:cs typeface="Times New Roman" panose="02020603050405020304" pitchFamily="18" charset="0"/>
              </a:rPr>
              <a:t> </a:t>
            </a:r>
            <a:r>
              <a:rPr lang="en-IN" sz="2200" dirty="0">
                <a:solidFill>
                  <a:srgbClr val="000000"/>
                </a:solidFill>
                <a:latin typeface="Times New Roman" panose="02020603050405020304" pitchFamily="18" charset="0"/>
                <a:cs typeface="Times New Roman" panose="02020603050405020304" pitchFamily="18" charset="0"/>
              </a:rPr>
              <a:t>Testing, debugging, documentation, and final presentation preparation.</a:t>
            </a:r>
          </a:p>
        </p:txBody>
      </p:sp>
    </p:spTree>
    <p:extLst>
      <p:ext uri="{BB962C8B-B14F-4D97-AF65-F5344CB8AC3E}">
        <p14:creationId xmlns:p14="http://schemas.microsoft.com/office/powerpoint/2010/main" val="3822103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00A44-9D91-C2F7-E408-E91CE9EFC145}"/>
              </a:ext>
            </a:extLst>
          </p:cNvPr>
          <p:cNvSpPr>
            <a:spLocks noGrp="1"/>
          </p:cNvSpPr>
          <p:nvPr>
            <p:ph type="title"/>
          </p:nvPr>
        </p:nvSpPr>
        <p:spPr>
          <a:xfrm>
            <a:off x="395536" y="116632"/>
            <a:ext cx="7315200" cy="715962"/>
          </a:xfrm>
        </p:spPr>
        <p:txBody>
          <a:bodyPr/>
          <a:lstStyle/>
          <a:p>
            <a:r>
              <a:rPr lang="en-IN" sz="3600" b="1" dirty="0">
                <a:solidFill>
                  <a:srgbClr val="C00000"/>
                </a:solidFill>
                <a:latin typeface="Times New Roman" panose="02020603050405020304" pitchFamily="18" charset="0"/>
                <a:cs typeface="Times New Roman" panose="02020603050405020304" pitchFamily="18" charset="0"/>
              </a:rPr>
              <a:t>Applications</a:t>
            </a:r>
          </a:p>
        </p:txBody>
      </p:sp>
      <p:sp>
        <p:nvSpPr>
          <p:cNvPr id="4" name="Rectangle 1">
            <a:extLst>
              <a:ext uri="{FF2B5EF4-FFF2-40B4-BE49-F238E27FC236}">
                <a16:creationId xmlns:a16="http://schemas.microsoft.com/office/drawing/2014/main" id="{3555A704-B844-E235-B123-A4AD05924976}"/>
              </a:ext>
            </a:extLst>
          </p:cNvPr>
          <p:cNvSpPr>
            <a:spLocks noGrp="1" noChangeArrowheads="1"/>
          </p:cNvSpPr>
          <p:nvPr>
            <p:ph idx="1"/>
          </p:nvPr>
        </p:nvSpPr>
        <p:spPr bwMode="auto">
          <a:xfrm>
            <a:off x="539552" y="1412776"/>
            <a:ext cx="73152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Used for operating system education.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Helps students understand CPU scheduling practically.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Useful as a learning and teaching tool in laboratories</a:t>
            </a:r>
            <a:r>
              <a:rPr lang="en-US" altLang="en-US" sz="2200" dirty="0">
                <a:solidFill>
                  <a:schemeClr val="accent4">
                    <a:lumMod val="50000"/>
                  </a:schemeClr>
                </a:solidFill>
                <a:latin typeface="Times New Roman" panose="02020603050405020304" pitchFamily="18" charset="0"/>
                <a:cs typeface="Times New Roman" panose="02020603050405020304" pitchFamily="18" charset="0"/>
              </a:rPr>
              <a:t>.</a:t>
            </a:r>
            <a:endPar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Helps in algorithm analysis.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200" b="0" i="0" u="none" strike="noStrike" cap="none" normalizeH="0" baseline="0" dirty="0">
                <a:ln>
                  <a:noFill/>
                </a:ln>
                <a:solidFill>
                  <a:schemeClr val="accent4">
                    <a:lumMod val="50000"/>
                  </a:schemeClr>
                </a:solidFill>
                <a:effectLst/>
                <a:latin typeface="Times New Roman" panose="02020603050405020304" pitchFamily="18" charset="0"/>
                <a:cs typeface="Times New Roman" panose="02020603050405020304" pitchFamily="18" charset="0"/>
              </a:rPr>
              <a:t>Enables performance comparison of scheduling algorithms.</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Dataset generation using CSV files for analysis.</a:t>
            </a:r>
          </a:p>
          <a:p>
            <a:pPr lvl="0" eaLnBrk="0" hangingPunct="0">
              <a:spcBef>
                <a:spcPct val="0"/>
              </a:spcBef>
              <a:buFont typeface="Wingdings" panose="05000000000000000000" pitchFamily="2" charset="2"/>
              <a:buChar char="§"/>
            </a:pPr>
            <a:r>
              <a:rPr lang="en-US" sz="2200" dirty="0">
                <a:solidFill>
                  <a:srgbClr val="000000"/>
                </a:solidFill>
                <a:latin typeface="Times New Roman" panose="02020603050405020304" pitchFamily="18" charset="0"/>
                <a:cs typeface="Times New Roman" panose="02020603050405020304" pitchFamily="18" charset="0"/>
              </a:rPr>
              <a:t>Machine Learning based study and prediction of scheduling performance.</a:t>
            </a:r>
            <a:endParaRPr kumimoji="0" lang="en-US" altLang="en-US" sz="2200" b="0"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199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D2D6B-0E2E-B08D-15B7-DC0E04913E6D}"/>
              </a:ext>
            </a:extLst>
          </p:cNvPr>
          <p:cNvSpPr>
            <a:spLocks noGrp="1"/>
          </p:cNvSpPr>
          <p:nvPr>
            <p:ph type="title"/>
          </p:nvPr>
        </p:nvSpPr>
        <p:spPr>
          <a:xfrm>
            <a:off x="179512" y="213784"/>
            <a:ext cx="7315200" cy="715962"/>
          </a:xfrm>
        </p:spPr>
        <p:txBody>
          <a:bodyPr/>
          <a:lstStyle/>
          <a:p>
            <a:r>
              <a:rPr lang="en-US" altLang="en-US" sz="3600" b="1" dirty="0">
                <a:solidFill>
                  <a:srgbClr val="C00000"/>
                </a:solidFill>
                <a:latin typeface="Times New Roman" panose="02020603050405020304" pitchFamily="18" charset="0"/>
                <a:cs typeface="Times New Roman" panose="02020603050405020304" pitchFamily="18" charset="0"/>
              </a:rPr>
              <a:t>References</a:t>
            </a:r>
            <a:endParaRPr lang="en-IN" sz="3600" dirty="0">
              <a:solidFill>
                <a:srgbClr val="C00000"/>
              </a:solidFill>
            </a:endParaRPr>
          </a:p>
        </p:txBody>
      </p:sp>
      <p:sp>
        <p:nvSpPr>
          <p:cNvPr id="3" name="Content Placeholder 2">
            <a:extLst>
              <a:ext uri="{FF2B5EF4-FFF2-40B4-BE49-F238E27FC236}">
                <a16:creationId xmlns:a16="http://schemas.microsoft.com/office/drawing/2014/main" id="{08843440-017A-CAA0-7FCE-E509AE7373B5}"/>
              </a:ext>
            </a:extLst>
          </p:cNvPr>
          <p:cNvSpPr>
            <a:spLocks noGrp="1"/>
          </p:cNvSpPr>
          <p:nvPr>
            <p:ph idx="1"/>
          </p:nvPr>
        </p:nvSpPr>
        <p:spPr>
          <a:xfrm>
            <a:off x="251520" y="1268760"/>
            <a:ext cx="8424936" cy="4975820"/>
          </a:xfrm>
        </p:spPr>
        <p:txBody>
          <a:bodyPr/>
          <a:lstStyle/>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A. A. </a:t>
            </a:r>
            <a:r>
              <a:rPr lang="en-IN" sz="2000" dirty="0" err="1">
                <a:solidFill>
                  <a:srgbClr val="000000"/>
                </a:solidFill>
                <a:latin typeface="Times New Roman" panose="02020603050405020304" pitchFamily="18" charset="0"/>
                <a:cs typeface="Times New Roman" panose="02020603050405020304" pitchFamily="18" charset="0"/>
              </a:rPr>
              <a:t>Alsulami</a:t>
            </a:r>
            <a:r>
              <a:rPr lang="en-IN" sz="2000" dirty="0">
                <a:solidFill>
                  <a:srgbClr val="000000"/>
                </a:solidFill>
                <a:latin typeface="Times New Roman" panose="02020603050405020304" pitchFamily="18" charset="0"/>
                <a:cs typeface="Times New Roman" panose="02020603050405020304" pitchFamily="18" charset="0"/>
              </a:rPr>
              <a:t>, Q. A. Al-</a:t>
            </a:r>
            <a:r>
              <a:rPr lang="en-IN" sz="2000" dirty="0" err="1">
                <a:solidFill>
                  <a:srgbClr val="000000"/>
                </a:solidFill>
                <a:latin typeface="Times New Roman" panose="02020603050405020304" pitchFamily="18" charset="0"/>
                <a:cs typeface="Times New Roman" panose="02020603050405020304" pitchFamily="18" charset="0"/>
              </a:rPr>
              <a:t>Haija</a:t>
            </a:r>
            <a:r>
              <a:rPr lang="en-IN" sz="2000" dirty="0">
                <a:solidFill>
                  <a:srgbClr val="000000"/>
                </a:solidFill>
                <a:latin typeface="Times New Roman" panose="02020603050405020304" pitchFamily="18" charset="0"/>
                <a:cs typeface="Times New Roman" panose="02020603050405020304" pitchFamily="18" charset="0"/>
              </a:rPr>
              <a:t>, M. I. </a:t>
            </a:r>
            <a:r>
              <a:rPr lang="en-IN" sz="2000" dirty="0" err="1">
                <a:solidFill>
                  <a:srgbClr val="000000"/>
                </a:solidFill>
                <a:latin typeface="Times New Roman" panose="02020603050405020304" pitchFamily="18" charset="0"/>
                <a:cs typeface="Times New Roman" panose="02020603050405020304" pitchFamily="18" charset="0"/>
              </a:rPr>
              <a:t>Thanoon</a:t>
            </a:r>
            <a:r>
              <a:rPr lang="en-IN" sz="2000" dirty="0">
                <a:solidFill>
                  <a:srgbClr val="000000"/>
                </a:solidFill>
                <a:latin typeface="Times New Roman" panose="02020603050405020304" pitchFamily="18" charset="0"/>
                <a:cs typeface="Times New Roman" panose="02020603050405020304" pitchFamily="18" charset="0"/>
              </a:rPr>
              <a:t> and Q. Mao, "Performance Evaluation of Dynamic Round Robin Algorithms for CPU Scheduling," 2019 </a:t>
            </a:r>
            <a:r>
              <a:rPr lang="en-IN" sz="2000" dirty="0" err="1">
                <a:solidFill>
                  <a:srgbClr val="000000"/>
                </a:solidFill>
                <a:latin typeface="Times New Roman" panose="02020603050405020304" pitchFamily="18" charset="0"/>
                <a:cs typeface="Times New Roman" panose="02020603050405020304" pitchFamily="18" charset="0"/>
              </a:rPr>
              <a:t>SoutheastCon</a:t>
            </a:r>
            <a:r>
              <a:rPr lang="en-IN" sz="2000" dirty="0">
                <a:solidFill>
                  <a:srgbClr val="000000"/>
                </a:solidFill>
                <a:latin typeface="Times New Roman" panose="02020603050405020304" pitchFamily="18" charset="0"/>
                <a:cs typeface="Times New Roman" panose="02020603050405020304" pitchFamily="18" charset="0"/>
              </a:rPr>
              <a:t>, Huntsville, AL, USA, 2019, pp. 1-5</a:t>
            </a:r>
            <a:r>
              <a:rPr lang="en-US" sz="2000" dirty="0">
                <a:solidFill>
                  <a:srgbClr val="0044A8"/>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K. </a:t>
            </a:r>
            <a:r>
              <a:rPr lang="en-IN" sz="2000" dirty="0" err="1">
                <a:solidFill>
                  <a:srgbClr val="000000"/>
                </a:solidFill>
                <a:latin typeface="Times New Roman" panose="02020603050405020304" pitchFamily="18" charset="0"/>
                <a:cs typeface="Times New Roman" panose="02020603050405020304" pitchFamily="18" charset="0"/>
              </a:rPr>
              <a:t>Vayadande</a:t>
            </a:r>
            <a:r>
              <a:rPr lang="en-IN" sz="2000" dirty="0">
                <a:solidFill>
                  <a:srgbClr val="000000"/>
                </a:solidFill>
                <a:latin typeface="Times New Roman" panose="02020603050405020304" pitchFamily="18" charset="0"/>
                <a:cs typeface="Times New Roman" panose="02020603050405020304" pitchFamily="18" charset="0"/>
              </a:rPr>
              <a:t>, P. Sheth, D. </a:t>
            </a:r>
            <a:r>
              <a:rPr lang="en-IN" sz="2000" dirty="0" err="1">
                <a:solidFill>
                  <a:srgbClr val="000000"/>
                </a:solidFill>
                <a:latin typeface="Times New Roman" panose="02020603050405020304" pitchFamily="18" charset="0"/>
                <a:cs typeface="Times New Roman" panose="02020603050405020304" pitchFamily="18" charset="0"/>
              </a:rPr>
              <a:t>Pawal</a:t>
            </a:r>
            <a:r>
              <a:rPr lang="en-IN" sz="2000" dirty="0">
                <a:solidFill>
                  <a:srgbClr val="000000"/>
                </a:solidFill>
                <a:latin typeface="Times New Roman" panose="02020603050405020304" pitchFamily="18" charset="0"/>
                <a:cs typeface="Times New Roman" panose="02020603050405020304" pitchFamily="18" charset="0"/>
              </a:rPr>
              <a:t>, A. Pathak, K. Paralkar and S. Patil, "Simulation of CPU Scheduling Algorithms for Efficient Execution of Processes," 2023 International Conference for Advancement in Technology (ICONAT), Goa, India, 2023, pp. 1-6</a:t>
            </a:r>
            <a:r>
              <a:rPr lang="en-US" sz="2000" dirty="0">
                <a:solidFill>
                  <a:srgbClr val="0044A8"/>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S. Sharma, A. Chhabra and S. Sharma, "Comparative analysis of scheduling algorithms for grid computing," 2015 International Conference on Advances in Computing, Communications and Informatics (ICACCI), Kochi, India, 2015, pp. 349-354</a:t>
            </a:r>
            <a:r>
              <a:rPr lang="en-US" sz="2000" dirty="0">
                <a:solidFill>
                  <a:srgbClr val="0044A8"/>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
            </a:pPr>
            <a:r>
              <a:rPr lang="en-US" sz="2000" dirty="0">
                <a:solidFill>
                  <a:srgbClr val="000000"/>
                </a:solidFill>
                <a:latin typeface="Times New Roman" panose="02020603050405020304" pitchFamily="18" charset="0"/>
                <a:cs typeface="Times New Roman" panose="02020603050405020304" pitchFamily="18" charset="0"/>
              </a:rPr>
              <a:t>S. Zouaoui, L. Boussaid and A. </a:t>
            </a:r>
            <a:r>
              <a:rPr lang="en-US" sz="2000" dirty="0" err="1">
                <a:solidFill>
                  <a:srgbClr val="000000"/>
                </a:solidFill>
                <a:latin typeface="Times New Roman" panose="02020603050405020304" pitchFamily="18" charset="0"/>
                <a:cs typeface="Times New Roman" panose="02020603050405020304" pitchFamily="18" charset="0"/>
              </a:rPr>
              <a:t>Mtibaa</a:t>
            </a:r>
            <a:r>
              <a:rPr lang="en-US" sz="2000" dirty="0">
                <a:solidFill>
                  <a:srgbClr val="000000"/>
                </a:solidFill>
                <a:latin typeface="Times New Roman" panose="02020603050405020304" pitchFamily="18" charset="0"/>
                <a:cs typeface="Times New Roman" panose="02020603050405020304" pitchFamily="18" charset="0"/>
              </a:rPr>
              <a:t>, "CPU scheduling algorithms: Case &amp; comparative study," 2016 17th International Conference on Sciences and Techniques of Automatic Control and Computer Engineering (STA), Sousse, Tunisia, 2016, pp. 158-164</a:t>
            </a:r>
            <a:r>
              <a:rPr lang="en-US" sz="2000" dirty="0">
                <a:solidFill>
                  <a:srgbClr val="57EF57"/>
                </a:solidFill>
                <a:latin typeface="Times New Roman" panose="02020603050405020304" pitchFamily="18" charset="0"/>
                <a:cs typeface="Times New Roman" panose="02020603050405020304" pitchFamily="18" charset="0"/>
              </a:rPr>
              <a:t>.</a:t>
            </a:r>
            <a:endParaRPr lang="en-US" sz="2000" dirty="0">
              <a:solidFill>
                <a:srgbClr val="0044A8"/>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28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63DC1-081A-960A-C27D-9A5701A95B36}"/>
              </a:ext>
            </a:extLst>
          </p:cNvPr>
          <p:cNvSpPr>
            <a:spLocks noGrp="1"/>
          </p:cNvSpPr>
          <p:nvPr>
            <p:ph type="title"/>
          </p:nvPr>
        </p:nvSpPr>
        <p:spPr>
          <a:xfrm>
            <a:off x="323528" y="228600"/>
            <a:ext cx="7315200" cy="715962"/>
          </a:xfrm>
        </p:spPr>
        <p:txBody>
          <a:bodyPr/>
          <a:lstStyle/>
          <a:p>
            <a:r>
              <a:rPr lang="en-US" altLang="en-US" sz="3600" b="1" dirty="0">
                <a:solidFill>
                  <a:srgbClr val="C00000"/>
                </a:solidFill>
                <a:latin typeface="Times New Roman" panose="02020603050405020304" pitchFamily="18" charset="0"/>
                <a:cs typeface="Times New Roman" panose="02020603050405020304" pitchFamily="18" charset="0"/>
              </a:rPr>
              <a:t>References</a:t>
            </a:r>
            <a:endParaRPr lang="en-IN" sz="3600" dirty="0"/>
          </a:p>
        </p:txBody>
      </p:sp>
      <p:sp>
        <p:nvSpPr>
          <p:cNvPr id="3" name="Content Placeholder 2">
            <a:extLst>
              <a:ext uri="{FF2B5EF4-FFF2-40B4-BE49-F238E27FC236}">
                <a16:creationId xmlns:a16="http://schemas.microsoft.com/office/drawing/2014/main" id="{15E93FE1-25CD-C376-26C7-A487DCE03416}"/>
              </a:ext>
            </a:extLst>
          </p:cNvPr>
          <p:cNvSpPr>
            <a:spLocks noGrp="1"/>
          </p:cNvSpPr>
          <p:nvPr>
            <p:ph idx="1"/>
          </p:nvPr>
        </p:nvSpPr>
        <p:spPr>
          <a:xfrm>
            <a:off x="325352" y="944562"/>
            <a:ext cx="8279095" cy="4443190"/>
          </a:xfrm>
        </p:spPr>
        <p:txBody>
          <a:bodyPr/>
          <a:lstStyle/>
          <a:p>
            <a:pPr marL="0" indent="0" algn="just">
              <a:buNone/>
            </a:pPr>
            <a:endParaRPr lang="en-IN" sz="2000" dirty="0">
              <a:solidFill>
                <a:srgbClr val="00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Educational Computer Architecture Research Group, “E2C: A Simulator for Heterogeneous and Parallel Systems, Computer Architecture and Education Research”, 2021.</a:t>
            </a:r>
          </a:p>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Operating Systems Education Researchers, “Visualization Tools for Operating System Learning”, Interactive Learning Technologies Journal, 2022.</a:t>
            </a:r>
          </a:p>
          <a:p>
            <a:pPr algn="just">
              <a:buFont typeface="Wingdings" panose="05000000000000000000" pitchFamily="2" charset="2"/>
              <a:buChar char="§"/>
            </a:pPr>
            <a:r>
              <a:rPr lang="en-IN" sz="2000" dirty="0">
                <a:solidFill>
                  <a:srgbClr val="000000"/>
                </a:solidFill>
                <a:latin typeface="Times New Roman" panose="02020603050405020304" pitchFamily="18" charset="0"/>
                <a:cs typeface="Times New Roman" panose="02020603050405020304" pitchFamily="18" charset="0"/>
              </a:rPr>
              <a:t>M. Rajasekhar Reddy, V. V. D. S. S. Ganesh, S. Lakshmi and Y. Sireesha, “Comparative Analysis of CPU Scheduling Algorithms and Their Optimal Solutions,” IEEE International Conference on Communication, Computing and Machine Learning (ICCCML/ICCCMC), 2019.</a:t>
            </a: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11965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powerpoint-template-24">
  <a:themeElements>
    <a:clrScheme name="">
      <a:dk1>
        <a:srgbClr val="5F5F5F"/>
      </a:dk1>
      <a:lt1>
        <a:srgbClr val="FFFFFF"/>
      </a:lt1>
      <a:dk2>
        <a:srgbClr val="5F5F5F"/>
      </a:dk2>
      <a:lt2>
        <a:srgbClr val="037F03"/>
      </a:lt2>
      <a:accent1>
        <a:srgbClr val="1AB219"/>
      </a:accent1>
      <a:accent2>
        <a:srgbClr val="08CC07"/>
      </a:accent2>
      <a:accent3>
        <a:srgbClr val="FFFFFF"/>
      </a:accent3>
      <a:accent4>
        <a:srgbClr val="505050"/>
      </a:accent4>
      <a:accent5>
        <a:srgbClr val="ABD5AB"/>
      </a:accent5>
      <a:accent6>
        <a:srgbClr val="06B906"/>
      </a:accent6>
      <a:hlink>
        <a:srgbClr val="57EF57"/>
      </a:hlink>
      <a:folHlink>
        <a:srgbClr val="D5D5D5"/>
      </a:folHlink>
    </a:clrScheme>
    <a:fontScheme name="powerpoint-template-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IN" alt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gradFill rotWithShape="1">
          <a:gsLst>
            <a:gs pos="0">
              <a:schemeClr val="bg2">
                <a:gamma/>
                <a:tint val="26667"/>
                <a:invGamma/>
              </a:schemeClr>
            </a:gs>
            <a:gs pos="100000">
              <a:schemeClr val="bg2">
                <a:alpha val="14999"/>
              </a:schemeClr>
            </a:gs>
          </a:gsLst>
          <a:lin ang="5400000" scaled="1"/>
        </a:gra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IN" alt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powerpoint-template-24 1">
        <a:dk1>
          <a:srgbClr val="4D4D4D"/>
        </a:dk1>
        <a:lt1>
          <a:srgbClr val="FFFFFF"/>
        </a:lt1>
        <a:dk2>
          <a:srgbClr val="4D4D4D"/>
        </a:dk2>
        <a:lt2>
          <a:srgbClr val="CC0000"/>
        </a:lt2>
        <a:accent1>
          <a:srgbClr val="FF9933"/>
        </a:accent1>
        <a:accent2>
          <a:srgbClr val="009900"/>
        </a:accent2>
        <a:accent3>
          <a:srgbClr val="FFFFFF"/>
        </a:accent3>
        <a:accent4>
          <a:srgbClr val="404040"/>
        </a:accent4>
        <a:accent5>
          <a:srgbClr val="FFCAAD"/>
        </a:accent5>
        <a:accent6>
          <a:srgbClr val="008A00"/>
        </a:accent6>
        <a:hlink>
          <a:srgbClr val="3366FF"/>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2">
        <a:dk1>
          <a:srgbClr val="4D4D4D"/>
        </a:dk1>
        <a:lt1>
          <a:srgbClr val="FFFFFF"/>
        </a:lt1>
        <a:dk2>
          <a:srgbClr val="4D4D4D"/>
        </a:dk2>
        <a:lt2>
          <a:srgbClr val="FBB240"/>
        </a:lt2>
        <a:accent1>
          <a:srgbClr val="FFC842"/>
        </a:accent1>
        <a:accent2>
          <a:srgbClr val="FED06E"/>
        </a:accent2>
        <a:accent3>
          <a:srgbClr val="FFFFFF"/>
        </a:accent3>
        <a:accent4>
          <a:srgbClr val="404040"/>
        </a:accent4>
        <a:accent5>
          <a:srgbClr val="FFE0B0"/>
        </a:accent5>
        <a:accent6>
          <a:srgbClr val="E6BC63"/>
        </a:accent6>
        <a:hlink>
          <a:srgbClr val="FDDB9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3">
        <a:dk1>
          <a:srgbClr val="4D4D4D"/>
        </a:dk1>
        <a:lt1>
          <a:srgbClr val="FFFFFF"/>
        </a:lt1>
        <a:dk2>
          <a:srgbClr val="4D4D4D"/>
        </a:dk2>
        <a:lt2>
          <a:srgbClr val="FE564C"/>
        </a:lt2>
        <a:accent1>
          <a:srgbClr val="FFC842"/>
        </a:accent1>
        <a:accent2>
          <a:srgbClr val="FED06E"/>
        </a:accent2>
        <a:accent3>
          <a:srgbClr val="FFFFFF"/>
        </a:accent3>
        <a:accent4>
          <a:srgbClr val="404040"/>
        </a:accent4>
        <a:accent5>
          <a:srgbClr val="FFE0B0"/>
        </a:accent5>
        <a:accent6>
          <a:srgbClr val="E6BC63"/>
        </a:accent6>
        <a:hlink>
          <a:srgbClr val="FDDB9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4">
        <a:dk1>
          <a:srgbClr val="4D4D4D"/>
        </a:dk1>
        <a:lt1>
          <a:srgbClr val="FFFFFF"/>
        </a:lt1>
        <a:dk2>
          <a:srgbClr val="4D4D4D"/>
        </a:dk2>
        <a:lt2>
          <a:srgbClr val="BB2A32"/>
        </a:lt2>
        <a:accent1>
          <a:srgbClr val="FFC842"/>
        </a:accent1>
        <a:accent2>
          <a:srgbClr val="FED06E"/>
        </a:accent2>
        <a:accent3>
          <a:srgbClr val="FFFFFF"/>
        </a:accent3>
        <a:accent4>
          <a:srgbClr val="404040"/>
        </a:accent4>
        <a:accent5>
          <a:srgbClr val="FFE0B0"/>
        </a:accent5>
        <a:accent6>
          <a:srgbClr val="E6BC63"/>
        </a:accent6>
        <a:hlink>
          <a:srgbClr val="FDDB9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5">
        <a:dk1>
          <a:srgbClr val="4D4D4D"/>
        </a:dk1>
        <a:lt1>
          <a:srgbClr val="FFFFFF"/>
        </a:lt1>
        <a:dk2>
          <a:srgbClr val="4D4D4D"/>
        </a:dk2>
        <a:lt2>
          <a:srgbClr val="E84A25"/>
        </a:lt2>
        <a:accent1>
          <a:srgbClr val="ED6A24"/>
        </a:accent1>
        <a:accent2>
          <a:srgbClr val="F99E1C"/>
        </a:accent2>
        <a:accent3>
          <a:srgbClr val="FFFFFF"/>
        </a:accent3>
        <a:accent4>
          <a:srgbClr val="404040"/>
        </a:accent4>
        <a:accent5>
          <a:srgbClr val="F4B9AC"/>
        </a:accent5>
        <a:accent6>
          <a:srgbClr val="E28F18"/>
        </a:accent6>
        <a:hlink>
          <a:srgbClr val="F1B545"/>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6">
        <a:dk1>
          <a:srgbClr val="4D4D4D"/>
        </a:dk1>
        <a:lt1>
          <a:srgbClr val="FFFFFF"/>
        </a:lt1>
        <a:dk2>
          <a:srgbClr val="4D4D4D"/>
        </a:dk2>
        <a:lt2>
          <a:srgbClr val="B92D14"/>
        </a:lt2>
        <a:accent1>
          <a:srgbClr val="D34E13"/>
        </a:accent1>
        <a:accent2>
          <a:srgbClr val="DC9009"/>
        </a:accent2>
        <a:accent3>
          <a:srgbClr val="FFFFFF"/>
        </a:accent3>
        <a:accent4>
          <a:srgbClr val="404040"/>
        </a:accent4>
        <a:accent5>
          <a:srgbClr val="E6B2AA"/>
        </a:accent5>
        <a:accent6>
          <a:srgbClr val="C78207"/>
        </a:accent6>
        <a:hlink>
          <a:srgbClr val="EEC633"/>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7">
        <a:dk1>
          <a:srgbClr val="4D4D4D"/>
        </a:dk1>
        <a:lt1>
          <a:srgbClr val="FFFFFF"/>
        </a:lt1>
        <a:dk2>
          <a:srgbClr val="4D4D4D"/>
        </a:dk2>
        <a:lt2>
          <a:srgbClr val="AE6310"/>
        </a:lt2>
        <a:accent1>
          <a:srgbClr val="E79613"/>
        </a:accent1>
        <a:accent2>
          <a:srgbClr val="E1720D"/>
        </a:accent2>
        <a:accent3>
          <a:srgbClr val="FFFFFF"/>
        </a:accent3>
        <a:accent4>
          <a:srgbClr val="404040"/>
        </a:accent4>
        <a:accent5>
          <a:srgbClr val="F1C9AA"/>
        </a:accent5>
        <a:accent6>
          <a:srgbClr val="CC670B"/>
        </a:accent6>
        <a:hlink>
          <a:srgbClr val="C6470A"/>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8">
        <a:dk1>
          <a:srgbClr val="4D4D4D"/>
        </a:dk1>
        <a:lt1>
          <a:srgbClr val="FFFFFF"/>
        </a:lt1>
        <a:dk2>
          <a:srgbClr val="4D4D4D"/>
        </a:dk2>
        <a:lt2>
          <a:srgbClr val="AF5612"/>
        </a:lt2>
        <a:accent1>
          <a:srgbClr val="CB882F"/>
        </a:accent1>
        <a:accent2>
          <a:srgbClr val="E7C432"/>
        </a:accent2>
        <a:accent3>
          <a:srgbClr val="FFFFFF"/>
        </a:accent3>
        <a:accent4>
          <a:srgbClr val="404040"/>
        </a:accent4>
        <a:accent5>
          <a:srgbClr val="E2C3AD"/>
        </a:accent5>
        <a:accent6>
          <a:srgbClr val="D1B12C"/>
        </a:accent6>
        <a:hlink>
          <a:srgbClr val="EECA34"/>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9">
        <a:dk1>
          <a:srgbClr val="4D4D4D"/>
        </a:dk1>
        <a:lt1>
          <a:srgbClr val="FFFFFF"/>
        </a:lt1>
        <a:dk2>
          <a:srgbClr val="4D4D4D"/>
        </a:dk2>
        <a:lt2>
          <a:srgbClr val="9A5E40"/>
        </a:lt2>
        <a:accent1>
          <a:srgbClr val="AE7750"/>
        </a:accent1>
        <a:accent2>
          <a:srgbClr val="C08D60"/>
        </a:accent2>
        <a:accent3>
          <a:srgbClr val="FFFFFF"/>
        </a:accent3>
        <a:accent4>
          <a:srgbClr val="404040"/>
        </a:accent4>
        <a:accent5>
          <a:srgbClr val="D3BDB3"/>
        </a:accent5>
        <a:accent6>
          <a:srgbClr val="AE7F56"/>
        </a:accent6>
        <a:hlink>
          <a:srgbClr val="CCA47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0">
        <a:dk1>
          <a:srgbClr val="4D4D4D"/>
        </a:dk1>
        <a:lt1>
          <a:srgbClr val="FFFFFF"/>
        </a:lt1>
        <a:dk2>
          <a:srgbClr val="4D4D4D"/>
        </a:dk2>
        <a:lt2>
          <a:srgbClr val="D1BB77"/>
        </a:lt2>
        <a:accent1>
          <a:srgbClr val="DBBA87"/>
        </a:accent1>
        <a:accent2>
          <a:srgbClr val="E0B265"/>
        </a:accent2>
        <a:accent3>
          <a:srgbClr val="FFFFFF"/>
        </a:accent3>
        <a:accent4>
          <a:srgbClr val="404040"/>
        </a:accent4>
        <a:accent5>
          <a:srgbClr val="EAD9C3"/>
        </a:accent5>
        <a:accent6>
          <a:srgbClr val="CBA15B"/>
        </a:accent6>
        <a:hlink>
          <a:srgbClr val="E9C277"/>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1">
        <a:dk1>
          <a:srgbClr val="4D4D4D"/>
        </a:dk1>
        <a:lt1>
          <a:srgbClr val="FFFFFF"/>
        </a:lt1>
        <a:dk2>
          <a:srgbClr val="4D4D4D"/>
        </a:dk2>
        <a:lt2>
          <a:srgbClr val="45762A"/>
        </a:lt2>
        <a:accent1>
          <a:srgbClr val="42934C"/>
        </a:accent1>
        <a:accent2>
          <a:srgbClr val="34B66A"/>
        </a:accent2>
        <a:accent3>
          <a:srgbClr val="FFFFFF"/>
        </a:accent3>
        <a:accent4>
          <a:srgbClr val="404040"/>
        </a:accent4>
        <a:accent5>
          <a:srgbClr val="B0C8B2"/>
        </a:accent5>
        <a:accent6>
          <a:srgbClr val="2EA55F"/>
        </a:accent6>
        <a:hlink>
          <a:srgbClr val="34C8D1"/>
        </a:hlink>
        <a:folHlink>
          <a:srgbClr val="DDDDDD"/>
        </a:folHlink>
      </a:clrScheme>
      <a:clrMap bg1="lt1" tx1="dk1" bg2="lt2" tx2="dk2" accent1="accent1" accent2="accent2" accent3="accent3" accent4="accent4" accent5="accent5" accent6="accent6" hlink="hlink" folHlink="folHlink"/>
    </a:extraClrScheme>
    <a:extraClrScheme>
      <a:clrScheme name="powerpoint-template-24 12">
        <a:dk1>
          <a:srgbClr val="4D4D4D"/>
        </a:dk1>
        <a:lt1>
          <a:srgbClr val="FFFFFF"/>
        </a:lt1>
        <a:dk2>
          <a:srgbClr val="4D4D4D"/>
        </a:dk2>
        <a:lt2>
          <a:srgbClr val="45762A"/>
        </a:lt2>
        <a:accent1>
          <a:srgbClr val="42934C"/>
        </a:accent1>
        <a:accent2>
          <a:srgbClr val="34B66A"/>
        </a:accent2>
        <a:accent3>
          <a:srgbClr val="FFFFFF"/>
        </a:accent3>
        <a:accent4>
          <a:srgbClr val="404040"/>
        </a:accent4>
        <a:accent5>
          <a:srgbClr val="B0C8B2"/>
        </a:accent5>
        <a:accent6>
          <a:srgbClr val="2EA55F"/>
        </a:accent6>
        <a:hlink>
          <a:srgbClr val="34C8D1"/>
        </a:hlink>
        <a:folHlink>
          <a:srgbClr val="FFFFFF"/>
        </a:folHlink>
      </a:clrScheme>
      <a:clrMap bg1="lt1" tx1="dk1" bg2="lt2" tx2="dk2" accent1="accent1" accent2="accent2" accent3="accent3" accent4="accent4" accent5="accent5" accent6="accent6" hlink="hlink" folHlink="folHlink"/>
    </a:extraClrScheme>
    <a:extraClrScheme>
      <a:clrScheme name="powerpoint-template-24 13">
        <a:dk1>
          <a:srgbClr val="4D4D4D"/>
        </a:dk1>
        <a:lt1>
          <a:srgbClr val="FFFFFF"/>
        </a:lt1>
        <a:dk2>
          <a:srgbClr val="4D4D4D"/>
        </a:dk2>
        <a:lt2>
          <a:srgbClr val="45762A"/>
        </a:lt2>
        <a:accent1>
          <a:srgbClr val="42934C"/>
        </a:accent1>
        <a:accent2>
          <a:srgbClr val="34B66A"/>
        </a:accent2>
        <a:accent3>
          <a:srgbClr val="FFFFFF"/>
        </a:accent3>
        <a:accent4>
          <a:srgbClr val="404040"/>
        </a:accent4>
        <a:accent5>
          <a:srgbClr val="B0C8B2"/>
        </a:accent5>
        <a:accent6>
          <a:srgbClr val="2EA55F"/>
        </a:accent6>
        <a:hlink>
          <a:srgbClr val="34C8D1"/>
        </a:hlink>
        <a:folHlink>
          <a:srgbClr val="D3D3D3"/>
        </a:folHlink>
      </a:clrScheme>
      <a:clrMap bg1="lt1" tx1="dk1" bg2="lt2" tx2="dk2" accent1="accent1" accent2="accent2" accent3="accent3" accent4="accent4" accent5="accent5" accent6="accent6" hlink="hlink" folHlink="folHlink"/>
    </a:extraClrScheme>
    <a:extraClrScheme>
      <a:clrScheme name="powerpoint-template-24 14">
        <a:dk1>
          <a:srgbClr val="FFFFFF"/>
        </a:dk1>
        <a:lt1>
          <a:srgbClr val="FFFFFF"/>
        </a:lt1>
        <a:dk2>
          <a:srgbClr val="FFFFFF"/>
        </a:dk2>
        <a:lt2>
          <a:srgbClr val="45762A"/>
        </a:lt2>
        <a:accent1>
          <a:srgbClr val="42934C"/>
        </a:accent1>
        <a:accent2>
          <a:srgbClr val="34B66A"/>
        </a:accent2>
        <a:accent3>
          <a:srgbClr val="FFFFFF"/>
        </a:accent3>
        <a:accent4>
          <a:srgbClr val="DADADA"/>
        </a:accent4>
        <a:accent5>
          <a:srgbClr val="B0C8B2"/>
        </a:accent5>
        <a:accent6>
          <a:srgbClr val="2EA55F"/>
        </a:accent6>
        <a:hlink>
          <a:srgbClr val="34C8D1"/>
        </a:hlink>
        <a:folHlink>
          <a:srgbClr val="FFFFFF"/>
        </a:folHlink>
      </a:clrScheme>
      <a:clrMap bg1="lt1" tx1="dk1" bg2="lt2" tx2="dk2" accent1="accent1" accent2="accent2" accent3="accent3" accent4="accent4" accent5="accent5" accent6="accent6" hlink="hlink" folHlink="folHlink"/>
    </a:extraClrScheme>
    <a:extraClrScheme>
      <a:clrScheme name="powerpoint-template-24 15">
        <a:dk1>
          <a:srgbClr val="FFFFFF"/>
        </a:dk1>
        <a:lt1>
          <a:srgbClr val="FFFFFF"/>
        </a:lt1>
        <a:dk2>
          <a:srgbClr val="FFFFFF"/>
        </a:dk2>
        <a:lt2>
          <a:srgbClr val="55A6FE"/>
        </a:lt2>
        <a:accent1>
          <a:srgbClr val="71BBFF"/>
        </a:accent1>
        <a:accent2>
          <a:srgbClr val="74CCFF"/>
        </a:accent2>
        <a:accent3>
          <a:srgbClr val="FFFFFF"/>
        </a:accent3>
        <a:accent4>
          <a:srgbClr val="DADADA"/>
        </a:accent4>
        <a:accent5>
          <a:srgbClr val="BBDAFF"/>
        </a:accent5>
        <a:accent6>
          <a:srgbClr val="68B9E7"/>
        </a:accent6>
        <a:hlink>
          <a:srgbClr val="94D8FF"/>
        </a:hlink>
        <a:folHlink>
          <a:srgbClr val="FFFFFF"/>
        </a:folHlink>
      </a:clrScheme>
      <a:clrMap bg1="lt1" tx1="dk1" bg2="lt2" tx2="dk2" accent1="accent1" accent2="accent2" accent3="accent3" accent4="accent4" accent5="accent5" accent6="accent6" hlink="hlink" folHlink="folHlink"/>
    </a:extraClrScheme>
    <a:extraClrScheme>
      <a:clrScheme name="powerpoint-template-24 16">
        <a:dk1>
          <a:srgbClr val="FFFFFF"/>
        </a:dk1>
        <a:lt1>
          <a:srgbClr val="FFFFFF"/>
        </a:lt1>
        <a:dk2>
          <a:srgbClr val="FFFFFF"/>
        </a:dk2>
        <a:lt2>
          <a:srgbClr val="4BA1FF"/>
        </a:lt2>
        <a:accent1>
          <a:srgbClr val="5DB2FF"/>
        </a:accent1>
        <a:accent2>
          <a:srgbClr val="65C8FF"/>
        </a:accent2>
        <a:accent3>
          <a:srgbClr val="FFFFFF"/>
        </a:accent3>
        <a:accent4>
          <a:srgbClr val="DADADA"/>
        </a:accent4>
        <a:accent5>
          <a:srgbClr val="B6D5FF"/>
        </a:accent5>
        <a:accent6>
          <a:srgbClr val="5BB5E7"/>
        </a:accent6>
        <a:hlink>
          <a:srgbClr val="87E1FF"/>
        </a:hlink>
        <a:folHlink>
          <a:srgbClr val="FFFF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1920</TotalTime>
  <Words>2197</Words>
  <Application>Microsoft Office PowerPoint</Application>
  <PresentationFormat>On-screen Show (4:3)</PresentationFormat>
  <Paragraphs>261</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Microsoft Sans Serif</vt:lpstr>
      <vt:lpstr>Times New Roman</vt:lpstr>
      <vt:lpstr>Wingdings</vt:lpstr>
      <vt:lpstr>powerpoint-template-24</vt:lpstr>
      <vt:lpstr>Multicore CPU Process Scheduling Simulator</vt:lpstr>
      <vt:lpstr>Outline</vt:lpstr>
      <vt:lpstr>Introduction</vt:lpstr>
      <vt:lpstr>Problem Statement</vt:lpstr>
      <vt:lpstr>REF [1] TITLE: Performance Evaluation of Dynamic Round Robin Algorithms for CPU Scheduling</vt:lpstr>
      <vt:lpstr>REF [2] TITLE: Simulation of CPU Scheduling Algorithms for Efficient Execution of Processes</vt:lpstr>
      <vt:lpstr>REF [3] TITLE: Comparative Analysis of Scheduling Algorithms for Grid Computing </vt:lpstr>
      <vt:lpstr>REF [4] TITLE: E2C Simulator for Heterogeneous Systems </vt:lpstr>
      <vt:lpstr>REF [5] TITLE: Visualization Tools for Operating System Learning </vt:lpstr>
      <vt:lpstr>REF [6] TITLE: CPU Scheduling Algorithms: Case &amp; Comparative Study</vt:lpstr>
      <vt:lpstr>REF [7] TITLE: Comparative Analysis of CPU Scheduling Algorithms &amp;Their Optimal Solutions</vt:lpstr>
      <vt:lpstr>EXISTING SYSTEM</vt:lpstr>
      <vt:lpstr>Limitations of Existing System</vt:lpstr>
      <vt:lpstr>Research Gap</vt:lpstr>
      <vt:lpstr>Objectives</vt:lpstr>
      <vt:lpstr>Proposed System</vt:lpstr>
      <vt:lpstr>High-Level Flow</vt:lpstr>
      <vt:lpstr>High-Level Architectural Diagram </vt:lpstr>
      <vt:lpstr>Methodology</vt:lpstr>
      <vt:lpstr>Modules</vt:lpstr>
      <vt:lpstr>Modules</vt:lpstr>
      <vt:lpstr>Tools &amp; Platform</vt:lpstr>
      <vt:lpstr>Expected Output</vt:lpstr>
      <vt:lpstr>12-Week Project Plan</vt:lpstr>
      <vt:lpstr>Applications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KALAISELVI Y</dc:creator>
  <cp:lastModifiedBy>KALAISELVI Y</cp:lastModifiedBy>
  <cp:revision>10</cp:revision>
  <dcterms:created xsi:type="dcterms:W3CDTF">2026-01-24T06:12:00Z</dcterms:created>
  <dcterms:modified xsi:type="dcterms:W3CDTF">2026-02-10T09:35:20Z</dcterms:modified>
</cp:coreProperties>
</file>